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49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3ECE37-9C81-412B-9631-5EEFBAA551DA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888F44-F698-4D01-90CF-7DA50FA77C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781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5000"/>
              </a:lnSpc>
            </a:pPr>
            <a:r>
              <a:rPr lang="en-US" sz="2000">
                <a:latin typeface="Open Sauce One" pitchFamily="2" charset="0"/>
              </a:rPr>
              <a:t>This is a 30-second habit at the keyboard.</a:t>
            </a:r>
          </a:p>
          <a:p>
            <a:pPr>
              <a:lnSpc>
                <a:spcPct val="115000"/>
              </a:lnSpc>
            </a:pPr>
            <a:r>
              <a:rPr lang="en-US" sz="2000">
                <a:latin typeface="Open Sauce One" pitchFamily="2" charset="0"/>
              </a:rPr>
              <a:t>I want a desk page, and a short module for people who do not have the habit yet.</a:t>
            </a:r>
          </a:p>
          <a:p>
            <a:pPr>
              <a:lnSpc>
                <a:spcPct val="115000"/>
              </a:lnSpc>
            </a:pPr>
            <a:r>
              <a:rPr lang="en-US" sz="2000">
                <a:latin typeface="Open Sauce One" pitchFamily="2" charset="0"/>
              </a:rPr>
              <a:t>[Start with the request. Not a contents list.]</a:t>
            </a:r>
          </a:p>
          <a:p>
            <a:pPr>
              <a:lnSpc>
                <a:spcPct val="115000"/>
              </a:lnSpc>
            </a:pPr>
            <a:r>
              <a:rPr lang="en-US" sz="2000">
                <a:latin typeface="Open Sauce One" pitchFamily="2" charset="0"/>
              </a:rPr>
              <a:t>[Do not call this AI awareness training.]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888F44-F698-4D01-90CF-7DA50FA77CE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7363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5000"/>
              </a:lnSpc>
            </a:pPr>
            <a:r>
              <a:rPr lang="en-US" sz="2000">
                <a:latin typeface="Open Sauce One" pitchFamily="2" charset="0"/>
              </a:rPr>
              <a:t>Two shortcuts leak data.</a:t>
            </a:r>
          </a:p>
          <a:p>
            <a:pPr>
              <a:lnSpc>
                <a:spcPct val="115000"/>
              </a:lnSpc>
            </a:pPr>
            <a:r>
              <a:rPr lang="en-US" sz="2000">
                <a:latin typeface="Open Sauce One" pitchFamily="2" charset="0"/>
              </a:rPr>
              <a:t>Drop it in ChatGPT and tidy it.</a:t>
            </a:r>
          </a:p>
          <a:p>
            <a:pPr>
              <a:lnSpc>
                <a:spcPct val="115000"/>
              </a:lnSpc>
            </a:pPr>
            <a:r>
              <a:rPr lang="en-US" sz="2000">
                <a:latin typeface="Open Sauce One" pitchFamily="2" charset="0"/>
              </a:rPr>
              <a:t>Put it on a personal Drive so the contractor can edit overnight.</a:t>
            </a:r>
          </a:p>
          <a:p>
            <a:pPr>
              <a:lnSpc>
                <a:spcPct val="115000"/>
              </a:lnSpc>
            </a:pPr>
            <a:r>
              <a:rPr lang="en-US" sz="2000">
                <a:latin typeface="Open Sauce One" pitchFamily="2" charset="0"/>
              </a:rPr>
              <a:t>Both are faster than the allowed path.</a:t>
            </a:r>
          </a:p>
          <a:p>
            <a:pPr>
              <a:lnSpc>
                <a:spcPct val="115000"/>
              </a:lnSpc>
            </a:pPr>
            <a:r>
              <a:rPr lang="en-US" sz="2000">
                <a:latin typeface="Open Sauce One" pitchFamily="2" charset="0"/>
              </a:rPr>
              <a:t>Both create GDPR and leak risk.</a:t>
            </a:r>
          </a:p>
          <a:p>
            <a:pPr>
              <a:lnSpc>
                <a:spcPct val="115000"/>
              </a:lnSpc>
            </a:pPr>
            <a:r>
              <a:rPr lang="en-US" sz="2000">
                <a:latin typeface="Open Sauce One" pitchFamily="2" charset="0"/>
              </a:rPr>
              <a:t>[Do not invent an incident or a fine.]</a:t>
            </a:r>
          </a:p>
          <a:p>
            <a:pPr>
              <a:lnSpc>
                <a:spcPct val="115000"/>
              </a:lnSpc>
            </a:pPr>
            <a:r>
              <a:rPr lang="en-US" sz="2000">
                <a:latin typeface="Open Sauce One" pitchFamily="2" charset="0"/>
              </a:rPr>
              <a:t>[Click Paste it now, then Name the data first.]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888F44-F698-4D01-90CF-7DA50FA77CE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8812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5000"/>
              </a:lnSpc>
            </a:pPr>
            <a:r>
              <a:rPr lang="en-US" sz="2000">
                <a:latin typeface="Open Sauce One" pitchFamily="2" charset="0"/>
              </a:rPr>
              <a:t>Same people as the later Rise module.</a:t>
            </a:r>
          </a:p>
          <a:p>
            <a:pPr>
              <a:lnSpc>
                <a:spcPct val="115000"/>
              </a:lnSpc>
            </a:pPr>
            <a:r>
              <a:rPr lang="en-US" sz="2000">
                <a:latin typeface="Open Sauce One" pitchFamily="2" charset="0"/>
              </a:rPr>
              <a:t>The page lives on the desk.</a:t>
            </a:r>
          </a:p>
          <a:p>
            <a:pPr>
              <a:lnSpc>
                <a:spcPct val="115000"/>
              </a:lnSpc>
            </a:pPr>
            <a:r>
              <a:rPr lang="en-US" sz="2000">
                <a:latin typeface="Open Sauce One" pitchFamily="2" charset="0"/>
              </a:rPr>
              <a:t>The module is for people who do not yet have the habit.</a:t>
            </a:r>
          </a:p>
          <a:p>
            <a:pPr>
              <a:lnSpc>
                <a:spcPct val="115000"/>
              </a:lnSpc>
            </a:pPr>
            <a:r>
              <a:rPr lang="en-US" sz="2000">
                <a:latin typeface="Open Sauce One" pitchFamily="2" charset="0"/>
              </a:rPr>
              <a:t>[Click each Click bar. It slides off to the right.]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888F44-F698-4D01-90CF-7DA50FA77CE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9908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5000"/>
              </a:lnSpc>
            </a:pPr>
            <a:r>
              <a:rPr lang="en-US" sz="2000">
                <a:latin typeface="Open Sauce One" pitchFamily="2" charset="0"/>
              </a:rPr>
              <a:t>If they already know the rule, a page is enough.</a:t>
            </a:r>
          </a:p>
          <a:p>
            <a:pPr>
              <a:lnSpc>
                <a:spcPct val="115000"/>
              </a:lnSpc>
            </a:pPr>
            <a:r>
              <a:rPr lang="en-US" sz="2000">
                <a:latin typeface="Open Sauce One" pitchFamily="2" charset="0"/>
              </a:rPr>
              <a:t>If they do not stop to name the data, they need the short module.</a:t>
            </a:r>
          </a:p>
          <a:p>
            <a:pPr>
              <a:lnSpc>
                <a:spcPct val="115000"/>
              </a:lnSpc>
            </a:pPr>
            <a:r>
              <a:rPr lang="en-US" sz="2000">
                <a:latin typeface="Open Sauce One" pitchFamily="2" charset="0"/>
              </a:rPr>
              <a:t>We count actions, not quiz scores.</a:t>
            </a:r>
          </a:p>
          <a:p>
            <a:pPr>
              <a:lnSpc>
                <a:spcPct val="115000"/>
              </a:lnSpc>
            </a:pPr>
            <a:r>
              <a:rPr lang="en-US" sz="2000">
                <a:latin typeface="Open Sauce One" pitchFamily="2" charset="0"/>
              </a:rPr>
              <a:t>[Click three times. Each cover slides off.]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888F44-F698-4D01-90CF-7DA50FA77CE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6768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5000"/>
              </a:lnSpc>
            </a:pPr>
            <a:r>
              <a:rPr lang="en-US" sz="2000">
                <a:latin typeface="Open Sauce One" pitchFamily="2" charset="0"/>
              </a:rPr>
              <a:t>Tool names go stale.</a:t>
            </a:r>
          </a:p>
          <a:p>
            <a:pPr>
              <a:lnSpc>
                <a:spcPct val="115000"/>
              </a:lnSpc>
            </a:pPr>
            <a:r>
              <a:rPr lang="en-US" sz="2000">
                <a:latin typeface="Open Sauce One" pitchFamily="2" charset="0"/>
              </a:rPr>
              <a:t>The habit does not.</a:t>
            </a:r>
          </a:p>
          <a:p>
            <a:pPr>
              <a:lnSpc>
                <a:spcPct val="115000"/>
              </a:lnSpc>
            </a:pPr>
            <a:r>
              <a:rPr lang="en-US" sz="2000">
                <a:latin typeface="Open Sauce One" pitchFamily="2" charset="0"/>
              </a:rPr>
              <a:t>[Do not invent an approved-tool brand list.]</a:t>
            </a:r>
          </a:p>
          <a:p>
            <a:pPr>
              <a:lnSpc>
                <a:spcPct val="115000"/>
              </a:lnSpc>
            </a:pPr>
            <a:r>
              <a:rPr lang="en-US" sz="2000">
                <a:latin typeface="Open Sauce One" pitchFamily="2" charset="0"/>
              </a:rPr>
              <a:t>[Leave the ask-role as TO CONFIRM. Do not name Slack, Microsoft, or ChatGPT.]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888F44-F698-4D01-90CF-7DA50FA77CE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1062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5000"/>
              </a:lnSpc>
            </a:pPr>
            <a:r>
              <a:rPr lang="en-US" sz="2000">
                <a:latin typeface="Open Sauce One" pitchFamily="2" charset="0"/>
              </a:rPr>
              <a:t>Walk the three checks aloud.</a:t>
            </a:r>
          </a:p>
          <a:p>
            <a:pPr>
              <a:lnSpc>
                <a:spcPct val="115000"/>
              </a:lnSpc>
            </a:pPr>
            <a:r>
              <a:rPr lang="en-US" sz="2000">
                <a:latin typeface="Open Sauce One" pitchFamily="2" charset="0"/>
              </a:rPr>
              <a:t>This slide is the product for the worker.</a:t>
            </a:r>
          </a:p>
          <a:p>
            <a:pPr>
              <a:lnSpc>
                <a:spcPct val="115000"/>
              </a:lnSpc>
            </a:pPr>
            <a:r>
              <a:rPr lang="en-US" sz="2000">
                <a:latin typeface="Open Sauce One" pitchFamily="2" charset="0"/>
              </a:rPr>
              <a:t>The module is not the reminder.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888F44-F698-4D01-90CF-7DA50FA77CE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4981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5000"/>
              </a:lnSpc>
            </a:pPr>
            <a:r>
              <a:rPr lang="en-US" sz="2000">
                <a:latin typeface="Open Sauce One" pitchFamily="2" charset="0"/>
              </a:rPr>
              <a:t>This is a map only.</a:t>
            </a:r>
          </a:p>
          <a:p>
            <a:pPr>
              <a:lnSpc>
                <a:spcPct val="115000"/>
              </a:lnSpc>
            </a:pPr>
            <a:r>
              <a:rPr lang="en-US" sz="2000">
                <a:latin typeface="Open Sauce One" pitchFamily="2" charset="0"/>
              </a:rPr>
              <a:t>One decision. One marked question. Ten to fifteen minutes.</a:t>
            </a:r>
          </a:p>
          <a:p>
            <a:pPr>
              <a:lnSpc>
                <a:spcPct val="115000"/>
              </a:lnSpc>
            </a:pPr>
            <a:r>
              <a:rPr lang="en-US" sz="2000">
                <a:latin typeface="Open Sauce One" pitchFamily="2" charset="0"/>
              </a:rPr>
              <a:t>[Do not play the module in this meeting.]</a:t>
            </a:r>
          </a:p>
          <a:p>
            <a:pPr>
              <a:lnSpc>
                <a:spcPct val="115000"/>
              </a:lnSpc>
            </a:pPr>
            <a:r>
              <a:rPr lang="en-US" sz="2000">
                <a:latin typeface="Open Sauce One" pitchFamily="2" charset="0"/>
              </a:rPr>
              <a:t>[Storyline is a later piece.]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888F44-F698-4D01-90CF-7DA50FA77CE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7843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5000"/>
              </a:lnSpc>
            </a:pPr>
            <a:r>
              <a:rPr lang="en-US" sz="2000">
                <a:latin typeface="Open Sauce One" pitchFamily="2" charset="0"/>
              </a:rPr>
              <a:t>I need three decisions from you.</a:t>
            </a:r>
          </a:p>
          <a:p>
            <a:pPr>
              <a:lnSpc>
                <a:spcPct val="115000"/>
              </a:lnSpc>
            </a:pPr>
            <a:r>
              <a:rPr lang="en-US" sz="2000">
                <a:latin typeface="Open Sauce One" pitchFamily="2" charset="0"/>
              </a:rPr>
              <a:t>The habit.</a:t>
            </a:r>
          </a:p>
          <a:p>
            <a:pPr>
              <a:lnSpc>
                <a:spcPct val="115000"/>
              </a:lnSpc>
            </a:pPr>
            <a:r>
              <a:rPr lang="en-US" sz="2000">
                <a:latin typeface="Open Sauce One" pitchFamily="2" charset="0"/>
              </a:rPr>
              <a:t>Who they ask if they are unsure.</a:t>
            </a:r>
          </a:p>
          <a:p>
            <a:pPr>
              <a:lnSpc>
                <a:spcPct val="115000"/>
              </a:lnSpc>
            </a:pPr>
            <a:r>
              <a:rPr lang="en-US" sz="2000">
                <a:latin typeface="Open Sauce One" pitchFamily="2" charset="0"/>
              </a:rPr>
              <a:t>Where the page will live.</a:t>
            </a:r>
          </a:p>
          <a:p>
            <a:pPr>
              <a:lnSpc>
                <a:spcPct val="115000"/>
              </a:lnSpc>
            </a:pPr>
            <a:r>
              <a:rPr lang="en-US" sz="2000">
                <a:latin typeface="Open Sauce One" pitchFamily="2" charset="0"/>
              </a:rPr>
              <a:t>[End on a decision. Not "any questions?"]</a:t>
            </a:r>
          </a:p>
          <a:p>
            <a:pPr>
              <a:lnSpc>
                <a:spcPct val="115000"/>
              </a:lnSpc>
            </a:pPr>
            <a:r>
              <a:rPr lang="en-US" sz="2000">
                <a:latin typeface="Open Sauce One" pitchFamily="2" charset="0"/>
              </a:rPr>
              <a:t>[If they will not name who to ask, do not invent a job title.]</a:t>
            </a:r>
          </a:p>
          <a:p>
            <a:pPr>
              <a:lnSpc>
                <a:spcPct val="115000"/>
              </a:lnSpc>
            </a:pPr>
            <a:r>
              <a:rPr lang="en-US" sz="2000">
                <a:latin typeface="Open Sauce One" pitchFamily="2" charset="0"/>
              </a:rPr>
              <a:t>[Click each Click bar.]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888F44-F698-4D01-90CF-7DA50FA77CE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1266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AD5E4-5AAA-FE13-408E-595DF2B623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C351B8-63E0-782A-615B-DA21E3DC54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4DABEF-C5C4-4319-17FD-E3F1A5BBA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19010-272C-457C-8197-291EFC9DA86B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73696E-A93E-7230-3AEE-F8F0D1C60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E7D117-CA5D-0161-B9A3-660221918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7CBE2-5EEE-452F-A8E5-D3CA04D3E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322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A30DE-5176-018E-0D16-2CC0CAE50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6AEF4-7837-322C-F9CF-EE635B5302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33D60-340A-37DB-BB02-BEB86A96A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19010-272C-457C-8197-291EFC9DA86B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EACF34-5A9A-DD43-6157-5C3171407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2E752-B601-5C9F-108D-5893E9333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7CBE2-5EEE-452F-A8E5-D3CA04D3E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7818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F35ED-0AE9-4E9D-F7F4-BEFC303FF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8560D7-AB4F-DF73-D7A2-D93987E432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9E10B0-0EEC-E813-7DCA-EE1F6FEF4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19010-272C-457C-8197-291EFC9DA86B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8465A9-1C6A-8FFE-2926-09C13B196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B913D3-310A-44E5-6E32-5EB7681D9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7CBE2-5EEE-452F-A8E5-D3CA04D3E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311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30CA6-51BE-2BE2-1082-EE209E153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108B12-0B51-98E2-1C64-B9844E3479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7A7A56-3C09-088A-1A84-9FF29B8F31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BB97E-0396-E477-C7DC-BE6DED5DC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19010-272C-457C-8197-291EFC9DA86B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D30177-9BAE-BA36-1492-5FFAA8DDF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7DA990-1604-957A-D8C3-DB8BDFA40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7CBE2-5EEE-452F-A8E5-D3CA04D3E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270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96193-4E0C-770C-384E-9483D2900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1E1E65-2659-D51C-E71D-A3F62454E2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3C45FB-06E8-01FB-083E-71CF6EA1D9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13D0C8-D609-F561-613D-8D6C82C4DF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FA9657-9CF1-DBB7-CCCF-0024EA79EF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042BB6-2772-8CB2-8FA2-507B27025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19010-272C-457C-8197-291EFC9DA86B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5BD665-D52C-6B78-EBF1-396BB6BE4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B23B4D-22ED-F609-9BCB-A9817A785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7CBE2-5EEE-452F-A8E5-D3CA04D3E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233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FFC0E-8102-AE5C-7B8F-2480FB904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204080-0146-4009-3430-04106E958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19010-272C-457C-8197-291EFC9DA86B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047A7A-1C54-53D7-4528-10065CEA8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CAFECA-B12A-55D2-C9D0-39E126504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7CBE2-5EEE-452F-A8E5-D3CA04D3E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972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07004D-DEE2-7635-2E6E-DFF81FB95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19010-272C-457C-8197-291EFC9DA86B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0EE79C-348F-7BB6-9562-71B5D7290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12E172-63F4-31B0-F458-D1B53B4BB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7CBE2-5EEE-452F-A8E5-D3CA04D3E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690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507A6-D5ED-584B-57DE-9044D135A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F42F3-2442-032F-BBF6-2EFC5C2CDB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4E8275-651F-504C-3F0F-EDF89391DA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9D69BB-F266-84B5-D2C7-F818803FE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19010-272C-457C-8197-291EFC9DA86B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D6DC42-641A-6EE6-D738-5711AEE80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2C4647-E9EE-40F7-3D6B-BD248856F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7CBE2-5EEE-452F-A8E5-D3CA04D3E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0600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BEE99-68D1-AF15-CC48-0395D9BFA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DDBA99-9BEA-FDFB-CAF4-AF24666D666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8148EF-3A27-C244-4BBD-4BD5866272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8F5F16-B2E7-E3CF-0847-F728733A6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19010-272C-457C-8197-291EFC9DA86B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1A0B07-E104-37C7-4D83-88F1FB9C9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B480C0-EF49-1B16-6B5D-0C44DFA37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7CBE2-5EEE-452F-A8E5-D3CA04D3E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558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CB310-82DE-BAF7-C765-228302010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7B51DC-029F-2E6E-37B5-1A64654AF8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5C4223-BD66-059E-657E-E0B1DFC2E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19010-272C-457C-8197-291EFC9DA86B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6BB41E-7DB4-A1FF-4CB2-74CF6CE0D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9A7F96-779E-98A6-CDAF-28EBD3484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7CBE2-5EEE-452F-A8E5-D3CA04D3E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0136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45F48F-EFE8-3905-945D-D7B05D52CB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EA0546-DB48-747F-1B42-3F57C51A78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F5B553-125D-0D85-7225-572D5F566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19010-272C-457C-8197-291EFC9DA86B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F97C08-67F3-4E6F-E3CF-58057F2F9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5FD5B5-BD77-79F8-6F44-036AB3FF6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7CBE2-5EEE-452F-A8E5-D3CA04D3E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5821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FD3F17-8175-DBC5-AA1B-9C595C550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A5F939-BF6B-0F88-7A06-BB9F999D8E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DDB93D-3D0D-1F39-58B9-38509F4060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A19010-272C-457C-8197-291EFC9DA86B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D966EC-B1D7-A028-8A15-902F5565C3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54B8C0-F33C-4941-FEF1-9EB0BE1C0C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37CBE2-5EEE-452F-A8E5-D3CA04D3E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601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E65BD6-B967-9373-8264-445AD2CCA1F2}"/>
              </a:ext>
            </a:extLst>
          </p:cNvPr>
          <p:cNvSpPr txBox="1"/>
          <p:nvPr/>
        </p:nvSpPr>
        <p:spPr>
          <a:xfrm>
            <a:off x="711200" y="914400"/>
            <a:ext cx="1041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400">
                <a:solidFill>
                  <a:srgbClr val="3B3B3B"/>
                </a:solidFill>
                <a:latin typeface="League Gothic" pitchFamily="2" charset="0"/>
              </a:rPr>
              <a:t>PORTFOLIO SAMPLE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4D620A-4E90-FC1F-39C3-1D0BB5AA6571}"/>
              </a:ext>
            </a:extLst>
          </p:cNvPr>
          <p:cNvSpPr txBox="1"/>
          <p:nvPr/>
        </p:nvSpPr>
        <p:spPr>
          <a:xfrm>
            <a:off x="711200" y="13970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4000" b="1">
                <a:solidFill>
                  <a:srgbClr val="3B3B3B"/>
                </a:solidFill>
                <a:latin typeface="Open Sauce One" pitchFamily="2" charset="0"/>
              </a:rPr>
              <a:t>Before you paste, classify.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43CF0A-D739-3B87-3C77-C12306EE8BAE}"/>
              </a:ext>
            </a:extLst>
          </p:cNvPr>
          <p:cNvSpPr txBox="1"/>
          <p:nvPr/>
        </p:nvSpPr>
        <p:spPr>
          <a:xfrm>
            <a:off x="711200" y="2667000"/>
            <a:ext cx="965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2200">
                <a:solidFill>
                  <a:srgbClr val="3B3B3B"/>
                </a:solidFill>
                <a:latin typeface="Open Sauce One" pitchFamily="2" charset="0"/>
              </a:rPr>
              <a:t>A 30-second habit for remote teams using AI and shared files.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27F169-D200-CE13-DA34-3D4308C58E8F}"/>
              </a:ext>
            </a:extLst>
          </p:cNvPr>
          <p:cNvSpPr txBox="1"/>
          <p:nvPr/>
        </p:nvSpPr>
        <p:spPr>
          <a:xfrm>
            <a:off x="711200" y="3683000"/>
            <a:ext cx="965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>
                <a:solidFill>
                  <a:srgbClr val="3B3B3B"/>
                </a:solidFill>
                <a:latin typeface="League Gothic" pitchFamily="2" charset="0"/>
              </a:rPr>
              <a:t>One-page cheat sheet + 15-minute module.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0C7E9B-F632-E314-7FFE-1CCEC975C350}"/>
              </a:ext>
            </a:extLst>
          </p:cNvPr>
          <p:cNvSpPr txBox="1"/>
          <p:nvPr/>
        </p:nvSpPr>
        <p:spPr>
          <a:xfrm>
            <a:off x="711200" y="5969000"/>
            <a:ext cx="965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400">
                <a:solidFill>
                  <a:srgbClr val="3B3B3B"/>
                </a:solidFill>
                <a:latin typeface="Open Sauce One" pitchFamily="2" charset="0"/>
              </a:rPr>
              <a:t>Keith Byne  -  a portfolio sample, not a named client project.</a:t>
            </a:r>
          </a:p>
        </p:txBody>
      </p:sp>
    </p:spTree>
    <p:extLst>
      <p:ext uri="{BB962C8B-B14F-4D97-AF65-F5344CB8AC3E}">
        <p14:creationId xmlns:p14="http://schemas.microsoft.com/office/powerpoint/2010/main" val="24895694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B7C955B-5DB1-3A54-E9F3-BB891E59E024}"/>
              </a:ext>
            </a:extLst>
          </p:cNvPr>
          <p:cNvSpPr txBox="1"/>
          <p:nvPr/>
        </p:nvSpPr>
        <p:spPr>
          <a:xfrm>
            <a:off x="711200" y="355600"/>
            <a:ext cx="1041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>
                <a:solidFill>
                  <a:srgbClr val="3B3B3B"/>
                </a:solidFill>
                <a:latin typeface="Open Sauce One" pitchFamily="2" charset="0"/>
              </a:rPr>
              <a:t>The problem is a paste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28FA219-3E65-D3CA-DB77-F14308AC5005}"/>
              </a:ext>
            </a:extLst>
          </p:cNvPr>
          <p:cNvSpPr/>
          <p:nvPr/>
        </p:nvSpPr>
        <p:spPr>
          <a:xfrm>
            <a:off x="711200" y="1092200"/>
            <a:ext cx="5207000" cy="2540000"/>
          </a:xfrm>
          <a:prstGeom prst="rect">
            <a:avLst/>
          </a:prstGeom>
          <a:solidFill>
            <a:srgbClr val="E8DED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177800" rIns="203200" bIns="152400" rtlCol="0" anchor="t"/>
          <a:lstStyle/>
          <a:p>
            <a:pPr algn="ctr">
              <a:lnSpc>
                <a:spcPct val="150000"/>
              </a:lnSpc>
              <a:spcAft>
                <a:spcPct val="100000"/>
              </a:spcAft>
            </a:pPr>
            <a:r>
              <a:rPr lang="en-US" sz="2400">
                <a:solidFill>
                  <a:srgbClr val="3B3B3B"/>
                </a:solidFill>
                <a:latin typeface="League Gothic" pitchFamily="2" charset="0"/>
              </a:rPr>
              <a:t>1</a:t>
            </a:r>
          </a:p>
          <a:p>
            <a:pPr algn="ctr">
              <a:lnSpc>
                <a:spcPct val="150000"/>
              </a:lnSpc>
            </a:pPr>
            <a:r>
              <a:rPr lang="en-US">
                <a:solidFill>
                  <a:srgbClr val="3B3B3B"/>
                </a:solidFill>
                <a:latin typeface="Open Sauce One" pitchFamily="2" charset="0"/>
              </a:rPr>
              <a:t>Just drop this into ChatGPT and tidy it.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A9AA62-A03F-EA77-B841-245E30477D0A}"/>
              </a:ext>
            </a:extLst>
          </p:cNvPr>
          <p:cNvSpPr/>
          <p:nvPr/>
        </p:nvSpPr>
        <p:spPr>
          <a:xfrm>
            <a:off x="6273800" y="1092200"/>
            <a:ext cx="5207000" cy="2540000"/>
          </a:xfrm>
          <a:prstGeom prst="rect">
            <a:avLst/>
          </a:prstGeom>
          <a:solidFill>
            <a:srgbClr val="E8DED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177800" rIns="203200" bIns="152400" rtlCol="0" anchor="t"/>
          <a:lstStyle/>
          <a:p>
            <a:pPr algn="ctr">
              <a:lnSpc>
                <a:spcPct val="150000"/>
              </a:lnSpc>
              <a:spcAft>
                <a:spcPct val="100000"/>
              </a:spcAft>
            </a:pPr>
            <a:r>
              <a:rPr lang="en-US" sz="2400">
                <a:solidFill>
                  <a:srgbClr val="3B3B3B"/>
                </a:solidFill>
                <a:latin typeface="League Gothic" pitchFamily="2" charset="0"/>
              </a:rPr>
              <a:t>2</a:t>
            </a:r>
          </a:p>
          <a:p>
            <a:pPr algn="ctr">
              <a:lnSpc>
                <a:spcPct val="150000"/>
              </a:lnSpc>
            </a:pPr>
            <a:r>
              <a:rPr lang="en-US">
                <a:solidFill>
                  <a:srgbClr val="3B3B3B"/>
                </a:solidFill>
                <a:latin typeface="Open Sauce One" pitchFamily="2" charset="0"/>
              </a:rPr>
              <a:t>Put it on my personal Drive so the contractor can edit overnight.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EC9333-D87B-4C10-9A6D-2B710C52DEB3}"/>
              </a:ext>
            </a:extLst>
          </p:cNvPr>
          <p:cNvSpPr txBox="1"/>
          <p:nvPr/>
        </p:nvSpPr>
        <p:spPr>
          <a:xfrm>
            <a:off x="711200" y="37592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600">
                <a:solidFill>
                  <a:srgbClr val="3B3B3B"/>
                </a:solidFill>
                <a:latin typeface="Open Sauce One" pitchFamily="2" charset="0"/>
              </a:rPr>
              <a:t>Both are faster than the allowed path. Both create GDPR and leak risk.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586621-73F2-6107-6BFC-35E8A1DCE7D1}"/>
              </a:ext>
            </a:extLst>
          </p:cNvPr>
          <p:cNvSpPr txBox="1"/>
          <p:nvPr/>
        </p:nvSpPr>
        <p:spPr>
          <a:xfrm>
            <a:off x="711200" y="41656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400">
                <a:solidFill>
                  <a:srgbClr val="3B3B3B"/>
                </a:solidFill>
                <a:latin typeface="Open Sauce One" pitchFamily="2" charset="0"/>
              </a:rPr>
              <a:t>Click a choice.</a:t>
            </a:r>
          </a:p>
        </p:txBody>
      </p:sp>
      <p:sp>
        <p:nvSpPr>
          <p:cNvPr id="7" name="PasteChoice">
            <a:extLst>
              <a:ext uri="{FF2B5EF4-FFF2-40B4-BE49-F238E27FC236}">
                <a16:creationId xmlns:a16="http://schemas.microsoft.com/office/drawing/2014/main" id="{D7C2D72B-2BE4-E746-EA5D-8D691EF97650}"/>
              </a:ext>
            </a:extLst>
          </p:cNvPr>
          <p:cNvSpPr/>
          <p:nvPr/>
        </p:nvSpPr>
        <p:spPr>
          <a:xfrm>
            <a:off x="711200" y="4495800"/>
            <a:ext cx="5207000" cy="736600"/>
          </a:xfrm>
          <a:prstGeom prst="rect">
            <a:avLst/>
          </a:prstGeom>
          <a:solidFill>
            <a:srgbClr val="E6E6E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177800" rIns="203200" bIns="152400" rtlCol="0" anchor="ctr"/>
          <a:lstStyle/>
          <a:p>
            <a:pPr algn="ctr">
              <a:lnSpc>
                <a:spcPct val="150000"/>
              </a:lnSpc>
            </a:pPr>
            <a:r>
              <a:rPr lang="en-US" sz="2400">
                <a:solidFill>
                  <a:srgbClr val="3B3B3B"/>
                </a:solidFill>
                <a:latin typeface="League Gothic" pitchFamily="2" charset="0"/>
              </a:rPr>
              <a:t>Paste it now</a:t>
            </a:r>
          </a:p>
        </p:txBody>
      </p:sp>
      <p:sp>
        <p:nvSpPr>
          <p:cNvPr id="8" name="NameChoice">
            <a:extLst>
              <a:ext uri="{FF2B5EF4-FFF2-40B4-BE49-F238E27FC236}">
                <a16:creationId xmlns:a16="http://schemas.microsoft.com/office/drawing/2014/main" id="{75692185-4423-7408-1D8F-675CB434024E}"/>
              </a:ext>
            </a:extLst>
          </p:cNvPr>
          <p:cNvSpPr/>
          <p:nvPr/>
        </p:nvSpPr>
        <p:spPr>
          <a:xfrm>
            <a:off x="6273800" y="4495800"/>
            <a:ext cx="5207000" cy="736600"/>
          </a:xfrm>
          <a:prstGeom prst="rect">
            <a:avLst/>
          </a:prstGeom>
          <a:solidFill>
            <a:srgbClr val="DBE0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177800" rIns="203200" bIns="152400" rtlCol="0" anchor="ctr"/>
          <a:lstStyle/>
          <a:p>
            <a:pPr algn="ctr">
              <a:lnSpc>
                <a:spcPct val="150000"/>
              </a:lnSpc>
            </a:pPr>
            <a:r>
              <a:rPr lang="en-US" sz="2400">
                <a:solidFill>
                  <a:srgbClr val="3B3B3B"/>
                </a:solidFill>
                <a:latin typeface="League Gothic" pitchFamily="2" charset="0"/>
              </a:rPr>
              <a:t>Name the data first</a:t>
            </a:r>
          </a:p>
        </p:txBody>
      </p:sp>
      <p:sp>
        <p:nvSpPr>
          <p:cNvPr id="9" name="WrongBox">
            <a:extLst>
              <a:ext uri="{FF2B5EF4-FFF2-40B4-BE49-F238E27FC236}">
                <a16:creationId xmlns:a16="http://schemas.microsoft.com/office/drawing/2014/main" id="{9BC1FF8C-A31C-59EE-5524-CD4C39C3974B}"/>
              </a:ext>
            </a:extLst>
          </p:cNvPr>
          <p:cNvSpPr/>
          <p:nvPr/>
        </p:nvSpPr>
        <p:spPr>
          <a:xfrm>
            <a:off x="711200" y="5384800"/>
            <a:ext cx="5207000" cy="1270000"/>
          </a:xfrm>
          <a:prstGeom prst="rect">
            <a:avLst/>
          </a:prstGeom>
          <a:solidFill>
            <a:srgbClr val="E8DED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177800" rIns="203200" bIns="152400" rtlCol="0" anchor="ctr"/>
          <a:lstStyle/>
          <a:p>
            <a:pPr algn="ctr">
              <a:lnSpc>
                <a:spcPct val="150000"/>
              </a:lnSpc>
              <a:spcAft>
                <a:spcPct val="100000"/>
              </a:spcAft>
            </a:pPr>
            <a:r>
              <a:rPr lang="en-US" sz="2100">
                <a:solidFill>
                  <a:srgbClr val="3B3B3B"/>
                </a:solidFill>
                <a:latin typeface="League Gothic" pitchFamily="2" charset="0"/>
              </a:rPr>
              <a:t>Wrong</a:t>
            </a:r>
          </a:p>
          <a:p>
            <a:pPr algn="ctr">
              <a:lnSpc>
                <a:spcPct val="150000"/>
              </a:lnSpc>
            </a:pPr>
            <a:r>
              <a:rPr lang="en-US" sz="1600">
                <a:solidFill>
                  <a:srgbClr val="3B3B3B"/>
                </a:solidFill>
                <a:latin typeface="Open Sauce One" pitchFamily="2" charset="0"/>
              </a:rPr>
              <a:t>That is the leak.</a:t>
            </a:r>
          </a:p>
        </p:txBody>
      </p:sp>
      <p:sp>
        <p:nvSpPr>
          <p:cNvPr id="10" name="RightBox">
            <a:extLst>
              <a:ext uri="{FF2B5EF4-FFF2-40B4-BE49-F238E27FC236}">
                <a16:creationId xmlns:a16="http://schemas.microsoft.com/office/drawing/2014/main" id="{8CB96FEB-190C-B0E9-62BE-F35750EB88A1}"/>
              </a:ext>
            </a:extLst>
          </p:cNvPr>
          <p:cNvSpPr/>
          <p:nvPr/>
        </p:nvSpPr>
        <p:spPr>
          <a:xfrm>
            <a:off x="6273800" y="5384800"/>
            <a:ext cx="5207000" cy="1270000"/>
          </a:xfrm>
          <a:prstGeom prst="rect">
            <a:avLst/>
          </a:prstGeom>
          <a:solidFill>
            <a:srgbClr val="DBE0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177800" rIns="203200" bIns="152400" rtlCol="0" anchor="ctr"/>
          <a:lstStyle/>
          <a:p>
            <a:pPr algn="ctr">
              <a:lnSpc>
                <a:spcPct val="150000"/>
              </a:lnSpc>
              <a:spcAft>
                <a:spcPct val="100000"/>
              </a:spcAft>
            </a:pPr>
            <a:r>
              <a:rPr lang="en-US" sz="2100">
                <a:solidFill>
                  <a:srgbClr val="3B3B3B"/>
                </a:solidFill>
                <a:latin typeface="League Gothic" pitchFamily="2" charset="0"/>
              </a:rPr>
              <a:t>Right</a:t>
            </a:r>
          </a:p>
          <a:p>
            <a:pPr algn="ctr">
              <a:lnSpc>
                <a:spcPct val="150000"/>
              </a:lnSpc>
            </a:pPr>
            <a:r>
              <a:rPr lang="en-US" sz="1600">
                <a:solidFill>
                  <a:srgbClr val="3B3B3B"/>
                </a:solidFill>
                <a:latin typeface="Open Sauce One" pitchFamily="2" charset="0"/>
              </a:rPr>
              <a:t>Classify, then choose a path.</a:t>
            </a:r>
          </a:p>
        </p:txBody>
      </p:sp>
    </p:spTree>
    <p:extLst>
      <p:ext uri="{BB962C8B-B14F-4D97-AF65-F5344CB8AC3E}">
        <p14:creationId xmlns:p14="http://schemas.microsoft.com/office/powerpoint/2010/main" val="1865472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6EE16FD-8680-B872-F6B1-C254107DA023}"/>
              </a:ext>
            </a:extLst>
          </p:cNvPr>
          <p:cNvSpPr txBox="1"/>
          <p:nvPr/>
        </p:nvSpPr>
        <p:spPr>
          <a:xfrm>
            <a:off x="711200" y="406400"/>
            <a:ext cx="1041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>
                <a:solidFill>
                  <a:srgbClr val="3B3B3B"/>
                </a:solidFill>
                <a:latin typeface="Open Sauce One" pitchFamily="2" charset="0"/>
              </a:rPr>
              <a:t>The 30 seconds that matter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AA71DC-D480-D86B-28BE-0D303559434B}"/>
              </a:ext>
            </a:extLst>
          </p:cNvPr>
          <p:cNvSpPr/>
          <p:nvPr/>
        </p:nvSpPr>
        <p:spPr>
          <a:xfrm>
            <a:off x="711200" y="1219200"/>
            <a:ext cx="10769600" cy="1524000"/>
          </a:xfrm>
          <a:prstGeom prst="rect">
            <a:avLst/>
          </a:prstGeom>
          <a:solidFill>
            <a:srgbClr val="E6E6E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177800" rIns="203200" bIns="152400" rtlCol="0" anchor="t"/>
          <a:lstStyle/>
          <a:p>
            <a:pPr algn="ctr">
              <a:lnSpc>
                <a:spcPct val="150000"/>
              </a:lnSpc>
              <a:spcAft>
                <a:spcPct val="100000"/>
              </a:spcAft>
            </a:pPr>
            <a:r>
              <a:rPr lang="en-US" sz="2400">
                <a:solidFill>
                  <a:srgbClr val="3B3B3B"/>
                </a:solidFill>
                <a:latin typeface="League Gothic" pitchFamily="2" charset="0"/>
              </a:rPr>
              <a:t>Who</a:t>
            </a:r>
          </a:p>
          <a:p>
            <a:pPr algn="ctr">
              <a:lnSpc>
                <a:spcPct val="150000"/>
              </a:lnSpc>
            </a:pPr>
            <a:r>
              <a:rPr lang="en-US">
                <a:solidFill>
                  <a:srgbClr val="3B3B3B"/>
                </a:solidFill>
                <a:latin typeface="Open Sauce One" pitchFamily="2" charset="0"/>
              </a:rPr>
              <a:t>Knowledge workers on a distributed EU team.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710F1D-BA0A-7310-57ED-717EB1D17EBB}"/>
              </a:ext>
            </a:extLst>
          </p:cNvPr>
          <p:cNvSpPr/>
          <p:nvPr/>
        </p:nvSpPr>
        <p:spPr>
          <a:xfrm>
            <a:off x="711200" y="2895600"/>
            <a:ext cx="10769600" cy="1524000"/>
          </a:xfrm>
          <a:prstGeom prst="rect">
            <a:avLst/>
          </a:prstGeom>
          <a:solidFill>
            <a:srgbClr val="E6E6E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177800" rIns="203200" bIns="152400" rtlCol="0" anchor="t"/>
          <a:lstStyle/>
          <a:p>
            <a:pPr algn="ctr">
              <a:lnSpc>
                <a:spcPct val="150000"/>
              </a:lnSpc>
              <a:spcAft>
                <a:spcPct val="100000"/>
              </a:spcAft>
            </a:pPr>
            <a:r>
              <a:rPr lang="en-US" sz="2400">
                <a:solidFill>
                  <a:srgbClr val="3B3B3B"/>
                </a:solidFill>
                <a:latin typeface="League Gothic" pitchFamily="2" charset="0"/>
              </a:rPr>
              <a:t>When</a:t>
            </a:r>
          </a:p>
          <a:p>
            <a:pPr algn="ctr">
              <a:lnSpc>
                <a:spcPct val="150000"/>
              </a:lnSpc>
            </a:pPr>
            <a:r>
              <a:rPr lang="en-US">
                <a:solidFill>
                  <a:srgbClr val="3B3B3B"/>
                </a:solidFill>
                <a:latin typeface="Open Sauce One" pitchFamily="2" charset="0"/>
              </a:rPr>
              <a:t>Before any prompt, paste, or file share.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EFF3A7-59C9-2D1D-3EEA-AB242D8E5DFA}"/>
              </a:ext>
            </a:extLst>
          </p:cNvPr>
          <p:cNvSpPr/>
          <p:nvPr/>
        </p:nvSpPr>
        <p:spPr>
          <a:xfrm>
            <a:off x="711200" y="4572000"/>
            <a:ext cx="10769600" cy="1778000"/>
          </a:xfrm>
          <a:prstGeom prst="rect">
            <a:avLst/>
          </a:prstGeom>
          <a:solidFill>
            <a:srgbClr val="E8DED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177800" rIns="203200" bIns="152400" rtlCol="0" anchor="t"/>
          <a:lstStyle/>
          <a:p>
            <a:pPr algn="ctr">
              <a:lnSpc>
                <a:spcPct val="150000"/>
              </a:lnSpc>
              <a:spcAft>
                <a:spcPct val="100000"/>
              </a:spcAft>
            </a:pPr>
            <a:r>
              <a:rPr lang="en-US" sz="2400">
                <a:solidFill>
                  <a:srgbClr val="3B3B3B"/>
                </a:solidFill>
                <a:latin typeface="League Gothic" pitchFamily="2" charset="0"/>
              </a:rPr>
              <a:t>Not</a:t>
            </a:r>
          </a:p>
          <a:p>
            <a:pPr algn="ctr">
              <a:lnSpc>
                <a:spcPct val="150000"/>
              </a:lnSpc>
            </a:pPr>
            <a:r>
              <a:rPr lang="en-US">
                <a:solidFill>
                  <a:srgbClr val="3B3B3B"/>
                </a:solidFill>
                <a:latin typeface="Open Sauce One" pitchFamily="2" charset="0"/>
              </a:rPr>
              <a:t>A long compliance course. Not IT-only.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BC9548-D5F6-2C64-262F-A0A3C8484EE2}"/>
              </a:ext>
            </a:extLst>
          </p:cNvPr>
          <p:cNvSpPr/>
          <p:nvPr/>
        </p:nvSpPr>
        <p:spPr>
          <a:xfrm>
            <a:off x="711200" y="1905000"/>
            <a:ext cx="10769600" cy="838200"/>
          </a:xfrm>
          <a:prstGeom prst="rect">
            <a:avLst/>
          </a:prstGeom>
          <a:solidFill>
            <a:srgbClr val="E6E6E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>
                <a:solidFill>
                  <a:srgbClr val="3B3B3B"/>
                </a:solidFill>
                <a:latin typeface="League Gothic" pitchFamily="2" charset="0"/>
              </a:rPr>
              <a:t>Click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0365B3-4681-2275-3814-47903A93CBF7}"/>
              </a:ext>
            </a:extLst>
          </p:cNvPr>
          <p:cNvSpPr/>
          <p:nvPr/>
        </p:nvSpPr>
        <p:spPr>
          <a:xfrm>
            <a:off x="711200" y="3581400"/>
            <a:ext cx="10769600" cy="838200"/>
          </a:xfrm>
          <a:prstGeom prst="rect">
            <a:avLst/>
          </a:prstGeom>
          <a:solidFill>
            <a:srgbClr val="E6E6E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>
                <a:solidFill>
                  <a:srgbClr val="3B3B3B"/>
                </a:solidFill>
                <a:latin typeface="League Gothic" pitchFamily="2" charset="0"/>
              </a:rPr>
              <a:t>Click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6AABEB-57F9-77D1-7D6E-B5EBFF62538D}"/>
              </a:ext>
            </a:extLst>
          </p:cNvPr>
          <p:cNvSpPr/>
          <p:nvPr/>
        </p:nvSpPr>
        <p:spPr>
          <a:xfrm>
            <a:off x="711200" y="5257800"/>
            <a:ext cx="10769600" cy="1092200"/>
          </a:xfrm>
          <a:prstGeom prst="rect">
            <a:avLst/>
          </a:prstGeom>
          <a:solidFill>
            <a:srgbClr val="E8DED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>
                <a:solidFill>
                  <a:srgbClr val="3B3B3B"/>
                </a:solidFill>
                <a:latin typeface="League Gothic" pitchFamily="2" charset="0"/>
              </a:rPr>
              <a:t>Click</a:t>
            </a:r>
          </a:p>
        </p:txBody>
      </p:sp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F769FD8-5DC0-3B1D-75F9-0FA4183B811F}"/>
              </a:ext>
            </a:extLst>
          </p:cNvPr>
          <p:cNvSpPr/>
          <p:nvPr/>
        </p:nvSpPr>
        <p:spPr bwMode="white">
          <a:xfrm>
            <a:off x="11468100" y="0"/>
            <a:ext cx="7239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863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8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8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" dur="8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8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8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8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6456D8-6FDC-B9B2-B243-8DD25BC85A92}"/>
              </a:ext>
            </a:extLst>
          </p:cNvPr>
          <p:cNvSpPr txBox="1"/>
          <p:nvPr/>
        </p:nvSpPr>
        <p:spPr>
          <a:xfrm>
            <a:off x="711200" y="355600"/>
            <a:ext cx="1041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>
                <a:solidFill>
                  <a:srgbClr val="3B3B3B"/>
                </a:solidFill>
                <a:latin typeface="Open Sauce One" pitchFamily="2" charset="0"/>
              </a:rPr>
              <a:t>What we need them to do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F53062-3E7B-88F9-36D6-4E901C2B1102}"/>
              </a:ext>
            </a:extLst>
          </p:cNvPr>
          <p:cNvSpPr txBox="1"/>
          <p:nvPr/>
        </p:nvSpPr>
        <p:spPr>
          <a:xfrm>
            <a:off x="711200" y="10160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400">
                <a:solidFill>
                  <a:srgbClr val="3B3B3B"/>
                </a:solidFill>
                <a:latin typeface="Open Sauce One" pitchFamily="2" charset="0"/>
              </a:rPr>
              <a:t>Click to reveal each step.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175520-D4B0-4FB0-26A9-716E5369A79B}"/>
              </a:ext>
            </a:extLst>
          </p:cNvPr>
          <p:cNvSpPr/>
          <p:nvPr/>
        </p:nvSpPr>
        <p:spPr>
          <a:xfrm>
            <a:off x="711200" y="1524000"/>
            <a:ext cx="3429000" cy="3175000"/>
          </a:xfrm>
          <a:prstGeom prst="rect">
            <a:avLst/>
          </a:prstGeom>
          <a:solidFill>
            <a:srgbClr val="E6E6E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177800" rIns="203200" bIns="152400" rtlCol="0" anchor="t"/>
          <a:lstStyle/>
          <a:p>
            <a:pPr algn="ctr">
              <a:lnSpc>
                <a:spcPct val="150000"/>
              </a:lnSpc>
              <a:spcAft>
                <a:spcPct val="100000"/>
              </a:spcAft>
            </a:pPr>
            <a:r>
              <a:rPr lang="en-US" sz="2400">
                <a:solidFill>
                  <a:srgbClr val="3B3B3B"/>
                </a:solidFill>
                <a:latin typeface="League Gothic" pitchFamily="2" charset="0"/>
              </a:rPr>
              <a:t>01</a:t>
            </a:r>
          </a:p>
          <a:p>
            <a:pPr algn="ctr">
              <a:lnSpc>
                <a:spcPct val="150000"/>
              </a:lnSpc>
            </a:pPr>
            <a:r>
              <a:rPr lang="en-US">
                <a:solidFill>
                  <a:srgbClr val="3B3B3B"/>
                </a:solidFill>
                <a:latin typeface="Open Sauce One" pitchFamily="2" charset="0"/>
              </a:rPr>
              <a:t>Name the kind of data.</a:t>
            </a:r>
          </a:p>
        </p:txBody>
      </p:sp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A53B08DC-6115-7ABA-73A5-93C0D7A90735}"/>
              </a:ext>
            </a:extLst>
          </p:cNvPr>
          <p:cNvSpPr/>
          <p:nvPr/>
        </p:nvSpPr>
        <p:spPr bwMode="white">
          <a:xfrm>
            <a:off x="711200" y="1524000"/>
            <a:ext cx="3429000" cy="3175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B03B93-0F1F-70CB-8D52-E4CF79CF29DC}"/>
              </a:ext>
            </a:extLst>
          </p:cNvPr>
          <p:cNvSpPr/>
          <p:nvPr/>
        </p:nvSpPr>
        <p:spPr>
          <a:xfrm>
            <a:off x="4394200" y="1524000"/>
            <a:ext cx="3429000" cy="3175000"/>
          </a:xfrm>
          <a:prstGeom prst="rect">
            <a:avLst/>
          </a:prstGeom>
          <a:solidFill>
            <a:srgbClr val="E6E6E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177800" rIns="203200" bIns="152400" rtlCol="0" anchor="t"/>
          <a:lstStyle/>
          <a:p>
            <a:pPr algn="ctr">
              <a:lnSpc>
                <a:spcPct val="150000"/>
              </a:lnSpc>
              <a:spcAft>
                <a:spcPct val="100000"/>
              </a:spcAft>
            </a:pPr>
            <a:r>
              <a:rPr lang="en-US" sz="2400">
                <a:solidFill>
                  <a:srgbClr val="3B3B3B"/>
                </a:solidFill>
                <a:latin typeface="League Gothic" pitchFamily="2" charset="0"/>
              </a:rPr>
              <a:t>02</a:t>
            </a:r>
          </a:p>
          <a:p>
            <a:pPr algn="ctr">
              <a:lnSpc>
                <a:spcPct val="150000"/>
              </a:lnSpc>
            </a:pPr>
            <a:r>
              <a:rPr lang="en-US">
                <a:solidFill>
                  <a:srgbClr val="3B3B3B"/>
                </a:solidFill>
                <a:latin typeface="Open Sauce One" pitchFamily="2" charset="0"/>
              </a:rPr>
              <a:t>Approved tool, stripped example, or no AI.</a:t>
            </a:r>
          </a:p>
        </p:txBody>
      </p:sp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C9C0622B-B104-8468-9BC2-8E75744FF606}"/>
              </a:ext>
            </a:extLst>
          </p:cNvPr>
          <p:cNvSpPr/>
          <p:nvPr/>
        </p:nvSpPr>
        <p:spPr bwMode="white">
          <a:xfrm>
            <a:off x="4394200" y="1524000"/>
            <a:ext cx="3429000" cy="3175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75D115A-6980-502C-043A-13907F192253}"/>
              </a:ext>
            </a:extLst>
          </p:cNvPr>
          <p:cNvSpPr/>
          <p:nvPr/>
        </p:nvSpPr>
        <p:spPr>
          <a:xfrm>
            <a:off x="8077200" y="1524000"/>
            <a:ext cx="3429000" cy="3175000"/>
          </a:xfrm>
          <a:prstGeom prst="rect">
            <a:avLst/>
          </a:prstGeom>
          <a:solidFill>
            <a:srgbClr val="E6E6E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177800" rIns="203200" bIns="152400" rtlCol="0" anchor="t"/>
          <a:lstStyle/>
          <a:p>
            <a:pPr algn="ctr">
              <a:lnSpc>
                <a:spcPct val="150000"/>
              </a:lnSpc>
              <a:spcAft>
                <a:spcPct val="100000"/>
              </a:spcAft>
            </a:pPr>
            <a:r>
              <a:rPr lang="en-US" sz="2400">
                <a:solidFill>
                  <a:srgbClr val="3B3B3B"/>
                </a:solidFill>
                <a:latin typeface="League Gothic" pitchFamily="2" charset="0"/>
              </a:rPr>
              <a:t>03</a:t>
            </a:r>
          </a:p>
          <a:p>
            <a:pPr algn="ctr">
              <a:lnSpc>
                <a:spcPct val="150000"/>
              </a:lnSpc>
            </a:pPr>
            <a:r>
              <a:rPr lang="en-US">
                <a:solidFill>
                  <a:srgbClr val="3B3B3B"/>
                </a:solidFill>
                <a:latin typeface="Open Sauce One" pitchFamily="2" charset="0"/>
              </a:rPr>
              <a:t>Ask if unsure.</a:t>
            </a:r>
          </a:p>
        </p:txBody>
      </p:sp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F2A2FF7-D67E-D061-F517-E276933FB3AB}"/>
              </a:ext>
            </a:extLst>
          </p:cNvPr>
          <p:cNvSpPr/>
          <p:nvPr/>
        </p:nvSpPr>
        <p:spPr bwMode="white">
          <a:xfrm>
            <a:off x="8077200" y="1524000"/>
            <a:ext cx="3429000" cy="3175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C1B125-E889-991C-AE94-09B7E2A78422}"/>
              </a:ext>
            </a:extLst>
          </p:cNvPr>
          <p:cNvSpPr txBox="1"/>
          <p:nvPr/>
        </p:nvSpPr>
        <p:spPr>
          <a:xfrm>
            <a:off x="711200" y="50800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600">
                <a:solidFill>
                  <a:srgbClr val="3B3B3B"/>
                </a:solidFill>
                <a:latin typeface="Open Sauce One" pitchFamily="2" charset="0"/>
              </a:rPr>
              <a:t>Count fewer unapproved AI pastes and fewer personal-drive shares. We will not invent a percentage.</a:t>
            </a: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650F31E-1945-8E32-1D1C-86F25CC0B1BB}"/>
              </a:ext>
            </a:extLst>
          </p:cNvPr>
          <p:cNvSpPr/>
          <p:nvPr/>
        </p:nvSpPr>
        <p:spPr bwMode="white">
          <a:xfrm>
            <a:off x="11493500" y="0"/>
            <a:ext cx="6985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431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8125 0 E" pathEditMode="relative" ptsTypes="">
                                      <p:cBhvr>
                                        <p:cTn id="6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3" presetClass="pat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8125 0 E" pathEditMode="relative" ptsTypes="">
                                      <p:cBhvr>
                                        <p:cTn id="10" dur="8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3" presetClass="pat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8125 0 E" pathEditMode="relative" ptsTypes="">
                                      <p:cBhvr>
                                        <p:cTn id="14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D985860-76BE-44B4-942E-AFBF920CDDD1}"/>
              </a:ext>
            </a:extLst>
          </p:cNvPr>
          <p:cNvSpPr txBox="1"/>
          <p:nvPr/>
        </p:nvSpPr>
        <p:spPr>
          <a:xfrm>
            <a:off x="711200" y="3048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2800" b="1">
                <a:solidFill>
                  <a:srgbClr val="3B3B3B"/>
                </a:solidFill>
                <a:latin typeface="Open Sauce One" pitchFamily="2" charset="0"/>
              </a:rPr>
              <a:t>Why not just send the policy PDF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C4A3118-7D00-EFA0-9C39-FF2D1E6B7617}"/>
              </a:ext>
            </a:extLst>
          </p:cNvPr>
          <p:cNvSpPr/>
          <p:nvPr/>
        </p:nvSpPr>
        <p:spPr>
          <a:xfrm>
            <a:off x="711200" y="1117600"/>
            <a:ext cx="5207000" cy="4953000"/>
          </a:xfrm>
          <a:prstGeom prst="rect">
            <a:avLst/>
          </a:prstGeom>
          <a:solidFill>
            <a:srgbClr val="E8DED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177800" rIns="203200" bIns="152400" rtlCol="0" anchor="t"/>
          <a:lstStyle/>
          <a:p>
            <a:pPr algn="ctr">
              <a:lnSpc>
                <a:spcPct val="150000"/>
              </a:lnSpc>
              <a:spcAft>
                <a:spcPct val="100000"/>
              </a:spcAft>
            </a:pPr>
            <a:r>
              <a:rPr lang="en-US" sz="2400">
                <a:solidFill>
                  <a:srgbClr val="3B3B3B"/>
                </a:solidFill>
                <a:latin typeface="League Gothic" pitchFamily="2" charset="0"/>
              </a:rPr>
              <a:t>Instead of</a:t>
            </a:r>
          </a:p>
          <a:p>
            <a:pPr algn="ctr">
              <a:lnSpc>
                <a:spcPct val="150000"/>
              </a:lnSpc>
            </a:pPr>
            <a:r>
              <a:rPr lang="en-US">
                <a:solidFill>
                  <a:srgbClr val="3B3B3B"/>
                </a:solidFill>
                <a:latin typeface="League Gothic" pitchFamily="2" charset="0"/>
              </a:rPr>
              <a:t>A 40-page acceptable-use policy</a:t>
            </a:r>
          </a:p>
          <a:p>
            <a:pPr algn="ctr">
              <a:lnSpc>
                <a:spcPct val="150000"/>
              </a:lnSpc>
            </a:pPr>
            <a:r>
              <a:rPr lang="en-US">
                <a:solidFill>
                  <a:srgbClr val="3B3B3B"/>
                </a:solidFill>
                <a:latin typeface="League Gothic" pitchFamily="2" charset="0"/>
              </a:rPr>
              <a:t>A 45-minute intro to AI</a:t>
            </a:r>
          </a:p>
          <a:p>
            <a:pPr algn="ctr">
              <a:lnSpc>
                <a:spcPct val="150000"/>
              </a:lnSpc>
            </a:pPr>
            <a:r>
              <a:rPr lang="en-US">
                <a:solidFill>
                  <a:srgbClr val="3B3B3B"/>
                </a:solidFill>
                <a:latin typeface="League Gothic" pitchFamily="2" charset="0"/>
              </a:rPr>
              <a:t>A manual for every AI product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FC08BA-5C3C-E470-17CF-3E4FAC2E028B}"/>
              </a:ext>
            </a:extLst>
          </p:cNvPr>
          <p:cNvSpPr/>
          <p:nvPr/>
        </p:nvSpPr>
        <p:spPr>
          <a:xfrm>
            <a:off x="6273800" y="1117600"/>
            <a:ext cx="5207000" cy="4953000"/>
          </a:xfrm>
          <a:prstGeom prst="rect">
            <a:avLst/>
          </a:prstGeom>
          <a:solidFill>
            <a:srgbClr val="DBE0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177800" rIns="203200" bIns="152400" rtlCol="0" anchor="t"/>
          <a:lstStyle/>
          <a:p>
            <a:pPr algn="ctr">
              <a:lnSpc>
                <a:spcPct val="150000"/>
              </a:lnSpc>
              <a:spcAft>
                <a:spcPct val="100000"/>
              </a:spcAft>
            </a:pPr>
            <a:r>
              <a:rPr lang="en-US" sz="2400">
                <a:solidFill>
                  <a:srgbClr val="3B3B3B"/>
                </a:solidFill>
                <a:latin typeface="League Gothic" pitchFamily="2" charset="0"/>
              </a:rPr>
              <a:t>We ship</a:t>
            </a:r>
          </a:p>
          <a:p>
            <a:pPr algn="ctr">
              <a:lnSpc>
                <a:spcPct val="150000"/>
              </a:lnSpc>
            </a:pPr>
            <a:r>
              <a:rPr lang="en-US">
                <a:solidFill>
                  <a:srgbClr val="3B3B3B"/>
                </a:solidFill>
                <a:latin typeface="League Gothic" pitchFamily="2" charset="0"/>
              </a:rPr>
              <a:t>One page at the desk</a:t>
            </a:r>
          </a:p>
          <a:p>
            <a:pPr algn="ctr">
              <a:lnSpc>
                <a:spcPct val="150000"/>
              </a:lnSpc>
            </a:pPr>
            <a:r>
              <a:rPr lang="en-US">
                <a:solidFill>
                  <a:srgbClr val="3B3B3B"/>
                </a:solidFill>
                <a:latin typeface="Open Sauce One" pitchFamily="2" charset="0"/>
              </a:rPr>
              <a:t>A 10 to 15 minute module: name the data, then take a path</a:t>
            </a:r>
          </a:p>
          <a:p>
            <a:pPr algn="ctr">
              <a:lnSpc>
                <a:spcPct val="150000"/>
              </a:lnSpc>
            </a:pPr>
            <a:r>
              <a:rPr lang="en-US">
                <a:solidFill>
                  <a:srgbClr val="3B3B3B"/>
                </a:solidFill>
                <a:latin typeface="Open Sauce One" pitchFamily="2" charset="0"/>
              </a:rPr>
              <a:t>Three checks that still work when the tools change</a:t>
            </a:r>
          </a:p>
        </p:txBody>
      </p:sp>
    </p:spTree>
    <p:extLst>
      <p:ext uri="{BB962C8B-B14F-4D97-AF65-F5344CB8AC3E}">
        <p14:creationId xmlns:p14="http://schemas.microsoft.com/office/powerpoint/2010/main" val="1122208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41AAEA8-BC92-C02C-6FB5-C1DEFBA2558F}"/>
              </a:ext>
            </a:extLst>
          </p:cNvPr>
          <p:cNvSpPr txBox="1"/>
          <p:nvPr/>
        </p:nvSpPr>
        <p:spPr>
          <a:xfrm>
            <a:off x="457200" y="254000"/>
            <a:ext cx="660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2800" b="1">
                <a:solidFill>
                  <a:srgbClr val="3B3B3B"/>
                </a:solidFill>
                <a:latin typeface="Open Sauce One" pitchFamily="2" charset="0"/>
              </a:rPr>
              <a:t>What the worker sees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F06CF4-10FA-015D-7064-EB72029F0D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4000" y="304800"/>
            <a:ext cx="3807241" cy="5384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5FB6A7A-9977-D1E2-0B83-99E4B4F2E1CD}"/>
              </a:ext>
            </a:extLst>
          </p:cNvPr>
          <p:cNvSpPr txBox="1"/>
          <p:nvPr/>
        </p:nvSpPr>
        <p:spPr>
          <a:xfrm>
            <a:off x="457200" y="1016000"/>
            <a:ext cx="635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>
                <a:solidFill>
                  <a:srgbClr val="3B3B3B"/>
                </a:solidFill>
                <a:latin typeface="League Gothic" pitchFamily="2" charset="0"/>
              </a:rPr>
              <a:t>Three checks. Classify table. Stop rules.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FD3E19-7125-0D11-A089-10C480BD328E}"/>
              </a:ext>
            </a:extLst>
          </p:cNvPr>
          <p:cNvSpPr txBox="1"/>
          <p:nvPr/>
        </p:nvSpPr>
        <p:spPr>
          <a:xfrm>
            <a:off x="457200" y="2286000"/>
            <a:ext cx="635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2000">
                <a:solidFill>
                  <a:srgbClr val="3B3B3B"/>
                </a:solidFill>
                <a:latin typeface="Open Sauce One" pitchFamily="2" charset="0"/>
              </a:rPr>
              <a:t>This stays next to the desktop. The module is not the reminder.</a:t>
            </a:r>
          </a:p>
        </p:txBody>
      </p:sp>
    </p:spTree>
    <p:extLst>
      <p:ext uri="{BB962C8B-B14F-4D97-AF65-F5344CB8AC3E}">
        <p14:creationId xmlns:p14="http://schemas.microsoft.com/office/powerpoint/2010/main" val="21572587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187049-1EB5-9EA0-0DC9-B4101E68CB62}"/>
              </a:ext>
            </a:extLst>
          </p:cNvPr>
          <p:cNvSpPr txBox="1"/>
          <p:nvPr/>
        </p:nvSpPr>
        <p:spPr>
          <a:xfrm>
            <a:off x="711200" y="3556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>
                <a:solidFill>
                  <a:srgbClr val="3B3B3B"/>
                </a:solidFill>
                <a:latin typeface="Open Sauce One" pitchFamily="2" charset="0"/>
              </a:rPr>
              <a:t>The 15-minute module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C01569-6A21-AA82-45CC-CA1C7E0D185C}"/>
              </a:ext>
            </a:extLst>
          </p:cNvPr>
          <p:cNvSpPr txBox="1"/>
          <p:nvPr/>
        </p:nvSpPr>
        <p:spPr>
          <a:xfrm>
            <a:off x="711200" y="10668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600">
                <a:solidFill>
                  <a:srgbClr val="3B3B3B"/>
                </a:solidFill>
                <a:latin typeface="Open Sauce One" pitchFamily="2" charset="0"/>
              </a:rPr>
              <a:t>A map only. Do not play it in this meeting.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EF1F2D-EEC3-6921-E1D6-314FF7C96908}"/>
              </a:ext>
            </a:extLst>
          </p:cNvPr>
          <p:cNvSpPr/>
          <p:nvPr/>
        </p:nvSpPr>
        <p:spPr>
          <a:xfrm>
            <a:off x="711200" y="1574800"/>
            <a:ext cx="10769600" cy="4318000"/>
          </a:xfrm>
          <a:prstGeom prst="rect">
            <a:avLst/>
          </a:prstGeom>
          <a:solidFill>
            <a:srgbClr val="E6E6E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177800" rIns="203200" bIns="152400" rtlCol="0" anchor="t"/>
          <a:lstStyle/>
          <a:p>
            <a:pPr algn="ctr">
              <a:lnSpc>
                <a:spcPct val="150000"/>
              </a:lnSpc>
            </a:pPr>
            <a:r>
              <a:rPr lang="en-US">
                <a:solidFill>
                  <a:srgbClr val="3B3B3B"/>
                </a:solidFill>
                <a:latin typeface="League Gothic" pitchFamily="2" charset="0"/>
              </a:rPr>
              <a:t>Safe AI and data handling for remote enterprise teams</a:t>
            </a:r>
          </a:p>
          <a:p>
            <a:pPr algn="ctr">
              <a:lnSpc>
                <a:spcPct val="150000"/>
              </a:lnSpc>
            </a:pPr>
            <a:r>
              <a:rPr lang="en-US">
                <a:solidFill>
                  <a:srgbClr val="3B3B3B"/>
                </a:solidFill>
                <a:latin typeface="Open Sauce One" pitchFamily="2" charset="0"/>
              </a:rPr>
              <a:t>1   Welcome</a:t>
            </a:r>
          </a:p>
          <a:p>
            <a:pPr algn="ctr">
              <a:lnSpc>
                <a:spcPct val="150000"/>
              </a:lnSpc>
            </a:pPr>
            <a:r>
              <a:rPr lang="en-US">
                <a:solidFill>
                  <a:srgbClr val="3B3B3B"/>
                </a:solidFill>
                <a:latin typeface="Open Sauce One" pitchFamily="2" charset="0"/>
              </a:rPr>
              <a:t>2   Classify (a live decision)</a:t>
            </a:r>
          </a:p>
          <a:p>
            <a:pPr algn="ctr">
              <a:lnSpc>
                <a:spcPct val="150000"/>
              </a:lnSpc>
            </a:pPr>
            <a:r>
              <a:rPr lang="en-US">
                <a:solidFill>
                  <a:srgbClr val="3B3B3B"/>
                </a:solidFill>
                <a:latin typeface="Open Sauce One" pitchFamily="2" charset="0"/>
              </a:rPr>
              <a:t>3-4   Two paths: careful path, or a correction then rejoin</a:t>
            </a:r>
          </a:p>
          <a:p>
            <a:pPr algn="ctr">
              <a:lnSpc>
                <a:spcPct val="150000"/>
              </a:lnSpc>
            </a:pPr>
            <a:r>
              <a:rPr lang="en-US">
                <a:solidFill>
                  <a:srgbClr val="3B3B3B"/>
                </a:solidFill>
                <a:latin typeface="Open Sauce One" pitchFamily="2" charset="0"/>
              </a:rPr>
              <a:t>5   Three checks, everyone together again</a:t>
            </a:r>
          </a:p>
          <a:p>
            <a:pPr algn="ctr">
              <a:lnSpc>
                <a:spcPct val="150000"/>
              </a:lnSpc>
            </a:pPr>
            <a:r>
              <a:rPr lang="en-US">
                <a:solidFill>
                  <a:srgbClr val="3B3B3B"/>
                </a:solidFill>
                <a:latin typeface="Open Sauce One" pitchFamily="2" charset="0"/>
              </a:rPr>
              <a:t>6   One marked scenario</a:t>
            </a:r>
          </a:p>
          <a:p>
            <a:pPr algn="ctr">
              <a:lnSpc>
                <a:spcPct val="150000"/>
              </a:lnSpc>
            </a:pPr>
            <a:r>
              <a:rPr lang="en-US">
                <a:solidFill>
                  <a:srgbClr val="3B3B3B"/>
                </a:solidFill>
                <a:latin typeface="Open Sauce One" pitchFamily="2" charset="0"/>
              </a:rPr>
              <a:t>7   Point to the cheat sheet and finish</a:t>
            </a:r>
          </a:p>
        </p:txBody>
      </p:sp>
    </p:spTree>
    <p:extLst>
      <p:ext uri="{BB962C8B-B14F-4D97-AF65-F5344CB8AC3E}">
        <p14:creationId xmlns:p14="http://schemas.microsoft.com/office/powerpoint/2010/main" val="13078948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AA1FD1-F94E-D4AD-7433-ECFF6E18608C}"/>
              </a:ext>
            </a:extLst>
          </p:cNvPr>
          <p:cNvSpPr txBox="1"/>
          <p:nvPr/>
        </p:nvSpPr>
        <p:spPr>
          <a:xfrm>
            <a:off x="711200" y="3556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>
                <a:solidFill>
                  <a:srgbClr val="3B3B3B"/>
                </a:solidFill>
                <a:latin typeface="Open Sauce One" pitchFamily="2" charset="0"/>
              </a:rPr>
              <a:t>What you need them to decide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C45A15F-506F-7E2B-E7DC-AC87FA93C055}"/>
              </a:ext>
            </a:extLst>
          </p:cNvPr>
          <p:cNvSpPr/>
          <p:nvPr/>
        </p:nvSpPr>
        <p:spPr>
          <a:xfrm>
            <a:off x="711200" y="1117600"/>
            <a:ext cx="10769600" cy="1524000"/>
          </a:xfrm>
          <a:prstGeom prst="rect">
            <a:avLst/>
          </a:prstGeom>
          <a:solidFill>
            <a:srgbClr val="DBE0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177800" rIns="203200" bIns="152400" rtlCol="0" anchor="ctr"/>
          <a:lstStyle/>
          <a:p>
            <a:pPr algn="ctr">
              <a:lnSpc>
                <a:spcPct val="150000"/>
              </a:lnSpc>
              <a:spcAft>
                <a:spcPct val="100000"/>
              </a:spcAft>
            </a:pPr>
            <a:r>
              <a:rPr lang="en-US" sz="2400">
                <a:solidFill>
                  <a:srgbClr val="3B3B3B"/>
                </a:solidFill>
                <a:latin typeface="League Gothic" pitchFamily="2" charset="0"/>
              </a:rPr>
              <a:t>1</a:t>
            </a:r>
          </a:p>
          <a:p>
            <a:pPr algn="ctr">
              <a:lnSpc>
                <a:spcPct val="150000"/>
              </a:lnSpc>
            </a:pPr>
            <a:r>
              <a:rPr lang="en-US">
                <a:solidFill>
                  <a:srgbClr val="3B3B3B"/>
                </a:solidFill>
                <a:latin typeface="Open Sauce One" pitchFamily="2" charset="0"/>
              </a:rPr>
              <a:t>The habit. Classify, then an allowed path, then ask.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4CDDEC-B00F-7271-7AE6-90DBD1E0D69E}"/>
              </a:ext>
            </a:extLst>
          </p:cNvPr>
          <p:cNvSpPr/>
          <p:nvPr/>
        </p:nvSpPr>
        <p:spPr>
          <a:xfrm>
            <a:off x="711200" y="2794000"/>
            <a:ext cx="10769600" cy="1524000"/>
          </a:xfrm>
          <a:prstGeom prst="rect">
            <a:avLst/>
          </a:prstGeom>
          <a:solidFill>
            <a:srgbClr val="E6E6E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177800" rIns="203200" bIns="152400" rtlCol="0" anchor="ctr"/>
          <a:lstStyle/>
          <a:p>
            <a:pPr algn="ctr">
              <a:lnSpc>
                <a:spcPct val="150000"/>
              </a:lnSpc>
              <a:spcAft>
                <a:spcPct val="100000"/>
              </a:spcAft>
            </a:pPr>
            <a:r>
              <a:rPr lang="en-US" sz="2400">
                <a:solidFill>
                  <a:srgbClr val="3B3B3B"/>
                </a:solidFill>
                <a:latin typeface="League Gothic" pitchFamily="2" charset="0"/>
              </a:rPr>
              <a:t>2</a:t>
            </a:r>
          </a:p>
          <a:p>
            <a:pPr algn="ctr">
              <a:lnSpc>
                <a:spcPct val="150000"/>
              </a:lnSpc>
            </a:pPr>
            <a:r>
              <a:rPr lang="en-US">
                <a:solidFill>
                  <a:srgbClr val="3B3B3B"/>
                </a:solidFill>
                <a:latin typeface="Open Sauce One" pitchFamily="2" charset="0"/>
              </a:rPr>
              <a:t>The ask-if-unsure person: [TO CONFIRM: DPO / line manager / other]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CC7EE4-C849-54C2-8FFB-9AC994A84135}"/>
              </a:ext>
            </a:extLst>
          </p:cNvPr>
          <p:cNvSpPr/>
          <p:nvPr/>
        </p:nvSpPr>
        <p:spPr>
          <a:xfrm>
            <a:off x="711200" y="4470400"/>
            <a:ext cx="10769600" cy="1651000"/>
          </a:xfrm>
          <a:prstGeom prst="rect">
            <a:avLst/>
          </a:prstGeom>
          <a:solidFill>
            <a:srgbClr val="E6E6E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177800" rIns="203200" bIns="152400" rtlCol="0" anchor="ctr"/>
          <a:lstStyle/>
          <a:p>
            <a:pPr algn="ctr">
              <a:lnSpc>
                <a:spcPct val="150000"/>
              </a:lnSpc>
              <a:spcAft>
                <a:spcPct val="100000"/>
              </a:spcAft>
            </a:pPr>
            <a:r>
              <a:rPr lang="en-US" sz="2400">
                <a:solidFill>
                  <a:srgbClr val="3B3B3B"/>
                </a:solidFill>
                <a:latin typeface="League Gothic" pitchFamily="2" charset="0"/>
              </a:rPr>
              <a:t>3</a:t>
            </a:r>
          </a:p>
          <a:p>
            <a:pPr algn="ctr">
              <a:lnSpc>
                <a:spcPct val="150000"/>
              </a:lnSpc>
            </a:pPr>
            <a:r>
              <a:rPr lang="en-US">
                <a:solidFill>
                  <a:srgbClr val="3B3B3B"/>
                </a:solidFill>
                <a:latin typeface="Open Sauce One" pitchFamily="2" charset="0"/>
              </a:rPr>
              <a:t>Where the page will live. Intranet, or a pinned PDF, somewhere they already look.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245685-1003-355D-19AD-EF69B66705DE}"/>
              </a:ext>
            </a:extLst>
          </p:cNvPr>
          <p:cNvSpPr/>
          <p:nvPr/>
        </p:nvSpPr>
        <p:spPr>
          <a:xfrm>
            <a:off x="711200" y="1803400"/>
            <a:ext cx="10769600" cy="838200"/>
          </a:xfrm>
          <a:prstGeom prst="rect">
            <a:avLst/>
          </a:prstGeom>
          <a:solidFill>
            <a:srgbClr val="DBE0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>
                <a:solidFill>
                  <a:srgbClr val="3B3B3B"/>
                </a:solidFill>
                <a:latin typeface="League Gothic" pitchFamily="2" charset="0"/>
              </a:rPr>
              <a:t>Click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CB4C78-DDDE-02C1-2F43-9051932B664F}"/>
              </a:ext>
            </a:extLst>
          </p:cNvPr>
          <p:cNvSpPr/>
          <p:nvPr/>
        </p:nvSpPr>
        <p:spPr>
          <a:xfrm>
            <a:off x="711200" y="3479800"/>
            <a:ext cx="10769600" cy="838200"/>
          </a:xfrm>
          <a:prstGeom prst="rect">
            <a:avLst/>
          </a:prstGeom>
          <a:solidFill>
            <a:srgbClr val="E6E6E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>
                <a:solidFill>
                  <a:srgbClr val="3B3B3B"/>
                </a:solidFill>
                <a:latin typeface="League Gothic" pitchFamily="2" charset="0"/>
              </a:rPr>
              <a:t>Click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153459-1D80-4B0E-BF0E-796234DDB23B}"/>
              </a:ext>
            </a:extLst>
          </p:cNvPr>
          <p:cNvSpPr/>
          <p:nvPr/>
        </p:nvSpPr>
        <p:spPr>
          <a:xfrm>
            <a:off x="711200" y="5156200"/>
            <a:ext cx="10769600" cy="965200"/>
          </a:xfrm>
          <a:prstGeom prst="rect">
            <a:avLst/>
          </a:prstGeom>
          <a:solidFill>
            <a:srgbClr val="E6E6E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>
                <a:solidFill>
                  <a:srgbClr val="3B3B3B"/>
                </a:solidFill>
                <a:latin typeface="League Gothic" pitchFamily="2" charset="0"/>
              </a:rPr>
              <a:t>Click</a:t>
            </a: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FF91479-0FBA-51B8-F590-4FDBA173A931}"/>
              </a:ext>
            </a:extLst>
          </p:cNvPr>
          <p:cNvSpPr/>
          <p:nvPr/>
        </p:nvSpPr>
        <p:spPr bwMode="white">
          <a:xfrm>
            <a:off x="11468100" y="0"/>
            <a:ext cx="7239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014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8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8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" dur="8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8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8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8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765</Words>
  <Application>Microsoft Office PowerPoint</Application>
  <PresentationFormat>Widescreen</PresentationFormat>
  <Paragraphs>113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League Gothic</vt:lpstr>
      <vt:lpstr>Open Sauce One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Keith Byne</dc:creator>
  <cp:lastModifiedBy>Keith Byne</cp:lastModifiedBy>
  <cp:revision>2</cp:revision>
  <dcterms:created xsi:type="dcterms:W3CDTF">2026-09-23T20:35:41Z</dcterms:created>
  <dcterms:modified xsi:type="dcterms:W3CDTF">2026-09-25T18:27:26Z</dcterms:modified>
</cp:coreProperties>
</file>