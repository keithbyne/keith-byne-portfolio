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7" d="100"/>
          <a:sy n="87" d="100"/>
        </p:scale>
        <p:origin x="499"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3ECE37-9C81-412B-9631-5EEFBAA551DA}" type="datetimeFigureOut">
              <a:rPr lang="en-US" smtClean="0"/>
              <a:t>9/23/2026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B888F44-F698-4D01-90CF-7DA50FA77CEB}" type="slidenum">
              <a:rPr lang="en-US" smtClean="0"/>
              <a:t>‹#›</a:t>
            </a:fld>
            <a:endParaRPr lang="en-US"/>
          </a:p>
        </p:txBody>
      </p:sp>
    </p:spTree>
    <p:extLst>
      <p:ext uri="{BB962C8B-B14F-4D97-AF65-F5344CB8AC3E}">
        <p14:creationId xmlns:p14="http://schemas.microsoft.com/office/powerpoint/2010/main" val="37907815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Start with the request, not a contents list. You want them to treat this as a habit at the keyboard, not as AI awareness training.</a:t>
            </a:r>
          </a:p>
        </p:txBody>
      </p:sp>
      <p:sp>
        <p:nvSpPr>
          <p:cNvPr id="4" name="Slide Number Placeholder 3"/>
          <p:cNvSpPr>
            <a:spLocks noGrp="1"/>
          </p:cNvSpPr>
          <p:nvPr>
            <p:ph type="sldNum" sz="quarter" idx="5"/>
          </p:nvPr>
        </p:nvSpPr>
        <p:spPr/>
        <p:txBody>
          <a:bodyPr/>
          <a:lstStyle/>
          <a:p>
            <a:fld id="{4B888F44-F698-4D01-90CF-7DA50FA77CEB}" type="slidenum">
              <a:rPr lang="en-US" smtClean="0"/>
              <a:t>1</a:t>
            </a:fld>
            <a:endParaRPr lang="en-US"/>
          </a:p>
        </p:txBody>
      </p:sp>
    </p:spTree>
    <p:extLst>
      <p:ext uri="{BB962C8B-B14F-4D97-AF65-F5344CB8AC3E}">
        <p14:creationId xmlns:p14="http://schemas.microsoft.com/office/powerpoint/2010/main" val="229773632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invent an incident or a fine. The problem is what people do. Most companies already have a long policy PDF; nobody opens it at the moment they paste. In the slideshow, click Paste it now, then Name the data first.</a:t>
            </a:r>
          </a:p>
        </p:txBody>
      </p:sp>
      <p:sp>
        <p:nvSpPr>
          <p:cNvPr id="4" name="Slide Number Placeholder 3"/>
          <p:cNvSpPr>
            <a:spLocks noGrp="1"/>
          </p:cNvSpPr>
          <p:nvPr>
            <p:ph type="sldNum" sz="quarter" idx="5"/>
          </p:nvPr>
        </p:nvSpPr>
        <p:spPr/>
        <p:txBody>
          <a:bodyPr/>
          <a:lstStyle/>
          <a:p>
            <a:fld id="{4B888F44-F698-4D01-90CF-7DA50FA77CEB}" type="slidenum">
              <a:rPr lang="en-US" smtClean="0"/>
              <a:t>2</a:t>
            </a:fld>
            <a:endParaRPr lang="en-US"/>
          </a:p>
        </p:txBody>
      </p:sp>
    </p:spTree>
    <p:extLst>
      <p:ext uri="{BB962C8B-B14F-4D97-AF65-F5344CB8AC3E}">
        <p14:creationId xmlns:p14="http://schemas.microsoft.com/office/powerpoint/2010/main" val="17238812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Same people as the later Rise module. The page lives on the desk. The module is for people who do not yet have the habit. In the slideshow, click each Click bar. It slides off to the right and the line underneath shows from the left.</a:t>
            </a:r>
          </a:p>
        </p:txBody>
      </p:sp>
      <p:sp>
        <p:nvSpPr>
          <p:cNvPr id="4" name="Slide Number Placeholder 3"/>
          <p:cNvSpPr>
            <a:spLocks noGrp="1"/>
          </p:cNvSpPr>
          <p:nvPr>
            <p:ph type="sldNum" sz="quarter" idx="5"/>
          </p:nvPr>
        </p:nvSpPr>
        <p:spPr/>
        <p:txBody>
          <a:bodyPr/>
          <a:lstStyle/>
          <a:p>
            <a:fld id="{4B888F44-F698-4D01-90CF-7DA50FA77CEB}" type="slidenum">
              <a:rPr lang="en-US" smtClean="0"/>
              <a:t>3</a:t>
            </a:fld>
            <a:endParaRPr lang="en-US"/>
          </a:p>
        </p:txBody>
      </p:sp>
    </p:spTree>
    <p:extLst>
      <p:ext uri="{BB962C8B-B14F-4D97-AF65-F5344CB8AC3E}">
        <p14:creationId xmlns:p14="http://schemas.microsoft.com/office/powerpoint/2010/main" val="21099908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If they already know the rule, a page is enough. If they do not stop to name the data, they need the short module. We count actions, not quiz scores. In the slideshow, click three times. Each cover slides off to the right and that step shows.</a:t>
            </a:r>
          </a:p>
        </p:txBody>
      </p:sp>
      <p:sp>
        <p:nvSpPr>
          <p:cNvPr id="4" name="Slide Number Placeholder 3"/>
          <p:cNvSpPr>
            <a:spLocks noGrp="1"/>
          </p:cNvSpPr>
          <p:nvPr>
            <p:ph type="sldNum" sz="quarter" idx="5"/>
          </p:nvPr>
        </p:nvSpPr>
        <p:spPr/>
        <p:txBody>
          <a:bodyPr/>
          <a:lstStyle/>
          <a:p>
            <a:fld id="{4B888F44-F698-4D01-90CF-7DA50FA77CEB}" type="slidenum">
              <a:rPr lang="en-US" smtClean="0"/>
              <a:t>4</a:t>
            </a:fld>
            <a:endParaRPr lang="en-US"/>
          </a:p>
        </p:txBody>
      </p:sp>
    </p:spTree>
    <p:extLst>
      <p:ext uri="{BB962C8B-B14F-4D97-AF65-F5344CB8AC3E}">
        <p14:creationId xmlns:p14="http://schemas.microsoft.com/office/powerpoint/2010/main" val="372067689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Tool names go stale. The habit does not. Any approved-tools list belongs to a real role in a real company. Here it stays as a placeholder: [TO CONFIRM: role]. Do not invent Slack, Microsoft, or ChatGPT as the list.</a:t>
            </a:r>
          </a:p>
        </p:txBody>
      </p:sp>
      <p:sp>
        <p:nvSpPr>
          <p:cNvPr id="4" name="Slide Number Placeholder 3"/>
          <p:cNvSpPr>
            <a:spLocks noGrp="1"/>
          </p:cNvSpPr>
          <p:nvPr>
            <p:ph type="sldNum" sz="quarter" idx="5"/>
          </p:nvPr>
        </p:nvSpPr>
        <p:spPr/>
        <p:txBody>
          <a:bodyPr/>
          <a:lstStyle/>
          <a:p>
            <a:fld id="{4B888F44-F698-4D01-90CF-7DA50FA77CEB}" type="slidenum">
              <a:rPr lang="en-US" smtClean="0"/>
              <a:t>5</a:t>
            </a:fld>
            <a:endParaRPr lang="en-US"/>
          </a:p>
        </p:txBody>
      </p:sp>
    </p:spTree>
    <p:extLst>
      <p:ext uri="{BB962C8B-B14F-4D97-AF65-F5344CB8AC3E}">
        <p14:creationId xmlns:p14="http://schemas.microsoft.com/office/powerpoint/2010/main" val="39271062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Read the three checks aloud. This slide is the product for the worker.</a:t>
            </a:r>
          </a:p>
        </p:txBody>
      </p:sp>
      <p:sp>
        <p:nvSpPr>
          <p:cNvPr id="4" name="Slide Number Placeholder 3"/>
          <p:cNvSpPr>
            <a:spLocks noGrp="1"/>
          </p:cNvSpPr>
          <p:nvPr>
            <p:ph type="sldNum" sz="quarter" idx="5"/>
          </p:nvPr>
        </p:nvSpPr>
        <p:spPr/>
        <p:txBody>
          <a:bodyPr/>
          <a:lstStyle/>
          <a:p>
            <a:fld id="{4B888F44-F698-4D01-90CF-7DA50FA77CEB}" type="slidenum">
              <a:rPr lang="en-US" smtClean="0"/>
              <a:t>6</a:t>
            </a:fld>
            <a:endParaRPr lang="en-US"/>
          </a:p>
        </p:txBody>
      </p:sp>
    </p:spTree>
    <p:extLst>
      <p:ext uri="{BB962C8B-B14F-4D97-AF65-F5344CB8AC3E}">
        <p14:creationId xmlns:p14="http://schemas.microsoft.com/office/powerpoint/2010/main" val="366349817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run the whole module in this meeting. One decision, one scored question, 10 to 15 minutes. You build that in weeks 5 to 6 from the Rise script already written. The later Storyline manager conversation is a different piece, not these slides.</a:t>
            </a:r>
          </a:p>
        </p:txBody>
      </p:sp>
      <p:sp>
        <p:nvSpPr>
          <p:cNvPr id="4" name="Slide Number Placeholder 3"/>
          <p:cNvSpPr>
            <a:spLocks noGrp="1"/>
          </p:cNvSpPr>
          <p:nvPr>
            <p:ph type="sldNum" sz="quarter" idx="5"/>
          </p:nvPr>
        </p:nvSpPr>
        <p:spPr/>
        <p:txBody>
          <a:bodyPr/>
          <a:lstStyle/>
          <a:p>
            <a:fld id="{4B888F44-F698-4D01-90CF-7DA50FA77CEB}" type="slidenum">
              <a:rPr lang="en-US" smtClean="0"/>
              <a:t>7</a:t>
            </a:fld>
            <a:endParaRPr lang="en-US"/>
          </a:p>
        </p:txBody>
      </p:sp>
    </p:spTree>
    <p:extLst>
      <p:ext uri="{BB962C8B-B14F-4D97-AF65-F5344CB8AC3E}">
        <p14:creationId xmlns:p14="http://schemas.microsoft.com/office/powerpoint/2010/main" val="385178437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End on a decision, not any questions. If they will not name who to ask, do not invent a job title on the page. Leave the [TO CONFIRM] line visible. In the slideshow, click each Click bar. It slides off to the right.</a:t>
            </a:r>
          </a:p>
        </p:txBody>
      </p:sp>
      <p:sp>
        <p:nvSpPr>
          <p:cNvPr id="4" name="Slide Number Placeholder 3"/>
          <p:cNvSpPr>
            <a:spLocks noGrp="1"/>
          </p:cNvSpPr>
          <p:nvPr>
            <p:ph type="sldNum" sz="quarter" idx="5"/>
          </p:nvPr>
        </p:nvSpPr>
        <p:spPr/>
        <p:txBody>
          <a:bodyPr/>
          <a:lstStyle/>
          <a:p>
            <a:fld id="{4B888F44-F698-4D01-90CF-7DA50FA77CEB}" type="slidenum">
              <a:rPr lang="en-US" smtClean="0"/>
              <a:t>8</a:t>
            </a:fld>
            <a:endParaRPr lang="en-US"/>
          </a:p>
        </p:txBody>
      </p:sp>
    </p:spTree>
    <p:extLst>
      <p:ext uri="{BB962C8B-B14F-4D97-AF65-F5344CB8AC3E}">
        <p14:creationId xmlns:p14="http://schemas.microsoft.com/office/powerpoint/2010/main" val="36511266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9AD5E4-5AAA-FE13-408E-595DF2B623F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4C351B8-63E0-782A-615B-DA21E3DC547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C4DABEF-C5C4-4319-17FD-E3F1A5BBAB44}"/>
              </a:ext>
            </a:extLst>
          </p:cNvPr>
          <p:cNvSpPr>
            <a:spLocks noGrp="1"/>
          </p:cNvSpPr>
          <p:nvPr>
            <p:ph type="dt" sz="half" idx="10"/>
          </p:nvPr>
        </p:nvSpPr>
        <p:spPr/>
        <p:txBody>
          <a:bodyPr/>
          <a:lstStyle/>
          <a:p>
            <a:fld id="{A2A19010-272C-457C-8197-291EFC9DA86B}" type="datetimeFigureOut">
              <a:rPr lang="en-US" smtClean="0"/>
              <a:t>9/23/2026</a:t>
            </a:fld>
            <a:endParaRPr lang="en-US"/>
          </a:p>
        </p:txBody>
      </p:sp>
      <p:sp>
        <p:nvSpPr>
          <p:cNvPr id="5" name="Footer Placeholder 4">
            <a:extLst>
              <a:ext uri="{FF2B5EF4-FFF2-40B4-BE49-F238E27FC236}">
                <a16:creationId xmlns:a16="http://schemas.microsoft.com/office/drawing/2014/main" id="{E473696E-A93E-7230-3AEE-F8F0D1C60C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2E7D117-CA5D-0161-B9A3-6602219184CB}"/>
              </a:ext>
            </a:extLst>
          </p:cNvPr>
          <p:cNvSpPr>
            <a:spLocks noGrp="1"/>
          </p:cNvSpPr>
          <p:nvPr>
            <p:ph type="sldNum" sz="quarter" idx="12"/>
          </p:nvPr>
        </p:nvSpPr>
        <p:spPr/>
        <p:txBody>
          <a:bodyPr/>
          <a:lstStyle/>
          <a:p>
            <a:fld id="{8637CBE2-5EEE-452F-A8E5-D3CA04D3E76B}" type="slidenum">
              <a:rPr lang="en-US" smtClean="0"/>
              <a:t>‹#›</a:t>
            </a:fld>
            <a:endParaRPr lang="en-US"/>
          </a:p>
        </p:txBody>
      </p:sp>
    </p:spTree>
    <p:extLst>
      <p:ext uri="{BB962C8B-B14F-4D97-AF65-F5344CB8AC3E}">
        <p14:creationId xmlns:p14="http://schemas.microsoft.com/office/powerpoint/2010/main" val="29293224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8A30DE-5176-018E-0D16-2CC0CAE5023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2F6AEF4-7837-322C-F9CF-EE635B53021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AF33D60-340A-37DB-BB02-BEB86A96A789}"/>
              </a:ext>
            </a:extLst>
          </p:cNvPr>
          <p:cNvSpPr>
            <a:spLocks noGrp="1"/>
          </p:cNvSpPr>
          <p:nvPr>
            <p:ph type="dt" sz="half" idx="10"/>
          </p:nvPr>
        </p:nvSpPr>
        <p:spPr/>
        <p:txBody>
          <a:bodyPr/>
          <a:lstStyle/>
          <a:p>
            <a:fld id="{A2A19010-272C-457C-8197-291EFC9DA86B}" type="datetimeFigureOut">
              <a:rPr lang="en-US" smtClean="0"/>
              <a:t>9/23/2026</a:t>
            </a:fld>
            <a:endParaRPr lang="en-US"/>
          </a:p>
        </p:txBody>
      </p:sp>
      <p:sp>
        <p:nvSpPr>
          <p:cNvPr id="5" name="Footer Placeholder 4">
            <a:extLst>
              <a:ext uri="{FF2B5EF4-FFF2-40B4-BE49-F238E27FC236}">
                <a16:creationId xmlns:a16="http://schemas.microsoft.com/office/drawing/2014/main" id="{A2EACF34-5A9A-DD43-6157-5C3171407EA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4F2E752-B601-5C9F-108D-5893E9333F51}"/>
              </a:ext>
            </a:extLst>
          </p:cNvPr>
          <p:cNvSpPr>
            <a:spLocks noGrp="1"/>
          </p:cNvSpPr>
          <p:nvPr>
            <p:ph type="sldNum" sz="quarter" idx="12"/>
          </p:nvPr>
        </p:nvSpPr>
        <p:spPr/>
        <p:txBody>
          <a:bodyPr/>
          <a:lstStyle/>
          <a:p>
            <a:fld id="{8637CBE2-5EEE-452F-A8E5-D3CA04D3E76B}" type="slidenum">
              <a:rPr lang="en-US" smtClean="0"/>
              <a:t>‹#›</a:t>
            </a:fld>
            <a:endParaRPr lang="en-US"/>
          </a:p>
        </p:txBody>
      </p:sp>
    </p:spTree>
    <p:extLst>
      <p:ext uri="{BB962C8B-B14F-4D97-AF65-F5344CB8AC3E}">
        <p14:creationId xmlns:p14="http://schemas.microsoft.com/office/powerpoint/2010/main" val="125878189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FF35ED-0AE9-4E9D-F7F4-BEFC303FFD9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B8560D7-AB4F-DF73-D7A2-D93987E4328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A9E10B0-0EEC-E813-7DCA-EE1F6FEF41C3}"/>
              </a:ext>
            </a:extLst>
          </p:cNvPr>
          <p:cNvSpPr>
            <a:spLocks noGrp="1"/>
          </p:cNvSpPr>
          <p:nvPr>
            <p:ph type="dt" sz="half" idx="10"/>
          </p:nvPr>
        </p:nvSpPr>
        <p:spPr/>
        <p:txBody>
          <a:bodyPr/>
          <a:lstStyle/>
          <a:p>
            <a:fld id="{A2A19010-272C-457C-8197-291EFC9DA86B}" type="datetimeFigureOut">
              <a:rPr lang="en-US" smtClean="0"/>
              <a:t>9/23/2026</a:t>
            </a:fld>
            <a:endParaRPr lang="en-US"/>
          </a:p>
        </p:txBody>
      </p:sp>
      <p:sp>
        <p:nvSpPr>
          <p:cNvPr id="5" name="Footer Placeholder 4">
            <a:extLst>
              <a:ext uri="{FF2B5EF4-FFF2-40B4-BE49-F238E27FC236}">
                <a16:creationId xmlns:a16="http://schemas.microsoft.com/office/drawing/2014/main" id="{378465A9-1C6A-8FFE-2926-09C13B196FE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1B913D3-310A-44E5-6E32-5EB7681D9FD3}"/>
              </a:ext>
            </a:extLst>
          </p:cNvPr>
          <p:cNvSpPr>
            <a:spLocks noGrp="1"/>
          </p:cNvSpPr>
          <p:nvPr>
            <p:ph type="sldNum" sz="quarter" idx="12"/>
          </p:nvPr>
        </p:nvSpPr>
        <p:spPr/>
        <p:txBody>
          <a:bodyPr/>
          <a:lstStyle/>
          <a:p>
            <a:fld id="{8637CBE2-5EEE-452F-A8E5-D3CA04D3E76B}" type="slidenum">
              <a:rPr lang="en-US" smtClean="0"/>
              <a:t>‹#›</a:t>
            </a:fld>
            <a:endParaRPr lang="en-US"/>
          </a:p>
        </p:txBody>
      </p:sp>
    </p:spTree>
    <p:extLst>
      <p:ext uri="{BB962C8B-B14F-4D97-AF65-F5344CB8AC3E}">
        <p14:creationId xmlns:p14="http://schemas.microsoft.com/office/powerpoint/2010/main" val="6823114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330CA6-51BE-2BE2-1082-EE209E15374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2108B12-0B51-98E2-1C64-B9844E3479C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F7A7A56-3C09-088A-1A84-9FF29B8F312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A3BB97E-0396-E477-C7DC-BE6DED5DC238}"/>
              </a:ext>
            </a:extLst>
          </p:cNvPr>
          <p:cNvSpPr>
            <a:spLocks noGrp="1"/>
          </p:cNvSpPr>
          <p:nvPr>
            <p:ph type="dt" sz="half" idx="10"/>
          </p:nvPr>
        </p:nvSpPr>
        <p:spPr/>
        <p:txBody>
          <a:bodyPr/>
          <a:lstStyle/>
          <a:p>
            <a:fld id="{A2A19010-272C-457C-8197-291EFC9DA86B}" type="datetimeFigureOut">
              <a:rPr lang="en-US" smtClean="0"/>
              <a:t>9/23/2026</a:t>
            </a:fld>
            <a:endParaRPr lang="en-US"/>
          </a:p>
        </p:txBody>
      </p:sp>
      <p:sp>
        <p:nvSpPr>
          <p:cNvPr id="6" name="Footer Placeholder 5">
            <a:extLst>
              <a:ext uri="{FF2B5EF4-FFF2-40B4-BE49-F238E27FC236}">
                <a16:creationId xmlns:a16="http://schemas.microsoft.com/office/drawing/2014/main" id="{53D30177-9BAE-BA36-1492-5FFAA8DDFC7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97DA990-1604-957A-D8C3-DB8BDFA40E3A}"/>
              </a:ext>
            </a:extLst>
          </p:cNvPr>
          <p:cNvSpPr>
            <a:spLocks noGrp="1"/>
          </p:cNvSpPr>
          <p:nvPr>
            <p:ph type="sldNum" sz="quarter" idx="12"/>
          </p:nvPr>
        </p:nvSpPr>
        <p:spPr/>
        <p:txBody>
          <a:bodyPr/>
          <a:lstStyle/>
          <a:p>
            <a:fld id="{8637CBE2-5EEE-452F-A8E5-D3CA04D3E76B}" type="slidenum">
              <a:rPr lang="en-US" smtClean="0"/>
              <a:t>‹#›</a:t>
            </a:fld>
            <a:endParaRPr lang="en-US"/>
          </a:p>
        </p:txBody>
      </p:sp>
    </p:spTree>
    <p:extLst>
      <p:ext uri="{BB962C8B-B14F-4D97-AF65-F5344CB8AC3E}">
        <p14:creationId xmlns:p14="http://schemas.microsoft.com/office/powerpoint/2010/main" val="36442706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F96193-4E0C-770C-384E-9483D290074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41E1E65-2659-D51C-E71D-A3F62454E29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33C45FB-06E8-01FB-083E-71CF6EA1D9D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313D0C8-D609-F561-613D-8D6C82C4DF3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1FA9657-9CF1-DBB7-CCCF-0024EA79EFB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8042BB6-2772-8CB2-8FA2-507B2702551E}"/>
              </a:ext>
            </a:extLst>
          </p:cNvPr>
          <p:cNvSpPr>
            <a:spLocks noGrp="1"/>
          </p:cNvSpPr>
          <p:nvPr>
            <p:ph type="dt" sz="half" idx="10"/>
          </p:nvPr>
        </p:nvSpPr>
        <p:spPr/>
        <p:txBody>
          <a:bodyPr/>
          <a:lstStyle/>
          <a:p>
            <a:fld id="{A2A19010-272C-457C-8197-291EFC9DA86B}" type="datetimeFigureOut">
              <a:rPr lang="en-US" smtClean="0"/>
              <a:t>9/23/2026</a:t>
            </a:fld>
            <a:endParaRPr lang="en-US"/>
          </a:p>
        </p:txBody>
      </p:sp>
      <p:sp>
        <p:nvSpPr>
          <p:cNvPr id="8" name="Footer Placeholder 7">
            <a:extLst>
              <a:ext uri="{FF2B5EF4-FFF2-40B4-BE49-F238E27FC236}">
                <a16:creationId xmlns:a16="http://schemas.microsoft.com/office/drawing/2014/main" id="{095BD665-D52C-6B78-EBF1-396BB6BE47E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EB23B4D-22ED-F609-9BCB-A9817A785F16}"/>
              </a:ext>
            </a:extLst>
          </p:cNvPr>
          <p:cNvSpPr>
            <a:spLocks noGrp="1"/>
          </p:cNvSpPr>
          <p:nvPr>
            <p:ph type="sldNum" sz="quarter" idx="12"/>
          </p:nvPr>
        </p:nvSpPr>
        <p:spPr/>
        <p:txBody>
          <a:bodyPr/>
          <a:lstStyle/>
          <a:p>
            <a:fld id="{8637CBE2-5EEE-452F-A8E5-D3CA04D3E76B}" type="slidenum">
              <a:rPr lang="en-US" smtClean="0"/>
              <a:t>‹#›</a:t>
            </a:fld>
            <a:endParaRPr lang="en-US"/>
          </a:p>
        </p:txBody>
      </p:sp>
    </p:spTree>
    <p:extLst>
      <p:ext uri="{BB962C8B-B14F-4D97-AF65-F5344CB8AC3E}">
        <p14:creationId xmlns:p14="http://schemas.microsoft.com/office/powerpoint/2010/main" val="8572333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FFC0E-8102-AE5C-7B8F-2480FB9044B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4204080-0146-4009-3430-04106E958A25}"/>
              </a:ext>
            </a:extLst>
          </p:cNvPr>
          <p:cNvSpPr>
            <a:spLocks noGrp="1"/>
          </p:cNvSpPr>
          <p:nvPr>
            <p:ph type="dt" sz="half" idx="10"/>
          </p:nvPr>
        </p:nvSpPr>
        <p:spPr/>
        <p:txBody>
          <a:bodyPr/>
          <a:lstStyle/>
          <a:p>
            <a:fld id="{A2A19010-272C-457C-8197-291EFC9DA86B}" type="datetimeFigureOut">
              <a:rPr lang="en-US" smtClean="0"/>
              <a:t>9/23/2026</a:t>
            </a:fld>
            <a:endParaRPr lang="en-US"/>
          </a:p>
        </p:txBody>
      </p:sp>
      <p:sp>
        <p:nvSpPr>
          <p:cNvPr id="4" name="Footer Placeholder 3">
            <a:extLst>
              <a:ext uri="{FF2B5EF4-FFF2-40B4-BE49-F238E27FC236}">
                <a16:creationId xmlns:a16="http://schemas.microsoft.com/office/drawing/2014/main" id="{AD047A7A-1C54-53D7-4528-10065CEA801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FCAFECA-B12A-55D2-C9D0-39E126504EF4}"/>
              </a:ext>
            </a:extLst>
          </p:cNvPr>
          <p:cNvSpPr>
            <a:spLocks noGrp="1"/>
          </p:cNvSpPr>
          <p:nvPr>
            <p:ph type="sldNum" sz="quarter" idx="12"/>
          </p:nvPr>
        </p:nvSpPr>
        <p:spPr/>
        <p:txBody>
          <a:bodyPr/>
          <a:lstStyle/>
          <a:p>
            <a:fld id="{8637CBE2-5EEE-452F-A8E5-D3CA04D3E76B}" type="slidenum">
              <a:rPr lang="en-US" smtClean="0"/>
              <a:t>‹#›</a:t>
            </a:fld>
            <a:endParaRPr lang="en-US"/>
          </a:p>
        </p:txBody>
      </p:sp>
    </p:spTree>
    <p:extLst>
      <p:ext uri="{BB962C8B-B14F-4D97-AF65-F5344CB8AC3E}">
        <p14:creationId xmlns:p14="http://schemas.microsoft.com/office/powerpoint/2010/main" val="108297257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507004D-DEE2-7635-2E6E-DFF81FB95D1C}"/>
              </a:ext>
            </a:extLst>
          </p:cNvPr>
          <p:cNvSpPr>
            <a:spLocks noGrp="1"/>
          </p:cNvSpPr>
          <p:nvPr>
            <p:ph type="dt" sz="half" idx="10"/>
          </p:nvPr>
        </p:nvSpPr>
        <p:spPr/>
        <p:txBody>
          <a:bodyPr/>
          <a:lstStyle/>
          <a:p>
            <a:fld id="{A2A19010-272C-457C-8197-291EFC9DA86B}" type="datetimeFigureOut">
              <a:rPr lang="en-US" smtClean="0"/>
              <a:t>9/23/2026</a:t>
            </a:fld>
            <a:endParaRPr lang="en-US"/>
          </a:p>
        </p:txBody>
      </p:sp>
      <p:sp>
        <p:nvSpPr>
          <p:cNvPr id="3" name="Footer Placeholder 2">
            <a:extLst>
              <a:ext uri="{FF2B5EF4-FFF2-40B4-BE49-F238E27FC236}">
                <a16:creationId xmlns:a16="http://schemas.microsoft.com/office/drawing/2014/main" id="{C00EE79C-348F-7BB6-9562-71B5D7290E7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412E172-63F4-31B0-F458-D1B53B4BBD78}"/>
              </a:ext>
            </a:extLst>
          </p:cNvPr>
          <p:cNvSpPr>
            <a:spLocks noGrp="1"/>
          </p:cNvSpPr>
          <p:nvPr>
            <p:ph type="sldNum" sz="quarter" idx="12"/>
          </p:nvPr>
        </p:nvSpPr>
        <p:spPr/>
        <p:txBody>
          <a:bodyPr/>
          <a:lstStyle/>
          <a:p>
            <a:fld id="{8637CBE2-5EEE-452F-A8E5-D3CA04D3E76B}" type="slidenum">
              <a:rPr lang="en-US" smtClean="0"/>
              <a:t>‹#›</a:t>
            </a:fld>
            <a:endParaRPr lang="en-US"/>
          </a:p>
        </p:txBody>
      </p:sp>
    </p:spTree>
    <p:extLst>
      <p:ext uri="{BB962C8B-B14F-4D97-AF65-F5344CB8AC3E}">
        <p14:creationId xmlns:p14="http://schemas.microsoft.com/office/powerpoint/2010/main" val="281069070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4507A6-D5ED-584B-57DE-9044D135AC4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B2F42F3-2442-032F-BBF6-2EFC5C2CDBB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F4E8275-651F-504C-3F0F-EDF89391DAB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69D69BB-F266-84B5-D2C7-F818803FE4DB}"/>
              </a:ext>
            </a:extLst>
          </p:cNvPr>
          <p:cNvSpPr>
            <a:spLocks noGrp="1"/>
          </p:cNvSpPr>
          <p:nvPr>
            <p:ph type="dt" sz="half" idx="10"/>
          </p:nvPr>
        </p:nvSpPr>
        <p:spPr/>
        <p:txBody>
          <a:bodyPr/>
          <a:lstStyle/>
          <a:p>
            <a:fld id="{A2A19010-272C-457C-8197-291EFC9DA86B}" type="datetimeFigureOut">
              <a:rPr lang="en-US" smtClean="0"/>
              <a:t>9/23/2026</a:t>
            </a:fld>
            <a:endParaRPr lang="en-US"/>
          </a:p>
        </p:txBody>
      </p:sp>
      <p:sp>
        <p:nvSpPr>
          <p:cNvPr id="6" name="Footer Placeholder 5">
            <a:extLst>
              <a:ext uri="{FF2B5EF4-FFF2-40B4-BE49-F238E27FC236}">
                <a16:creationId xmlns:a16="http://schemas.microsoft.com/office/drawing/2014/main" id="{5CD6DC42-641A-6EE6-D738-5711AEE8084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12C4647-E9EE-40F7-3D6B-BD248856F6A6}"/>
              </a:ext>
            </a:extLst>
          </p:cNvPr>
          <p:cNvSpPr>
            <a:spLocks noGrp="1"/>
          </p:cNvSpPr>
          <p:nvPr>
            <p:ph type="sldNum" sz="quarter" idx="12"/>
          </p:nvPr>
        </p:nvSpPr>
        <p:spPr/>
        <p:txBody>
          <a:bodyPr/>
          <a:lstStyle/>
          <a:p>
            <a:fld id="{8637CBE2-5EEE-452F-A8E5-D3CA04D3E76B}" type="slidenum">
              <a:rPr lang="en-US" smtClean="0"/>
              <a:t>‹#›</a:t>
            </a:fld>
            <a:endParaRPr lang="en-US"/>
          </a:p>
        </p:txBody>
      </p:sp>
    </p:spTree>
    <p:extLst>
      <p:ext uri="{BB962C8B-B14F-4D97-AF65-F5344CB8AC3E}">
        <p14:creationId xmlns:p14="http://schemas.microsoft.com/office/powerpoint/2010/main" val="32580600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4BEE99-68D1-AF15-CC48-0395D9BFA0D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8DDBA99-9BEA-FDFB-CAF4-AF24666D6663}"/>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48148EF-3A27-C244-4BBD-4BD5866272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08F5F16-B2E7-E3CF-0847-F728733A6387}"/>
              </a:ext>
            </a:extLst>
          </p:cNvPr>
          <p:cNvSpPr>
            <a:spLocks noGrp="1"/>
          </p:cNvSpPr>
          <p:nvPr>
            <p:ph type="dt" sz="half" idx="10"/>
          </p:nvPr>
        </p:nvSpPr>
        <p:spPr/>
        <p:txBody>
          <a:bodyPr/>
          <a:lstStyle/>
          <a:p>
            <a:fld id="{A2A19010-272C-457C-8197-291EFC9DA86B}" type="datetimeFigureOut">
              <a:rPr lang="en-US" smtClean="0"/>
              <a:t>9/23/2026</a:t>
            </a:fld>
            <a:endParaRPr lang="en-US"/>
          </a:p>
        </p:txBody>
      </p:sp>
      <p:sp>
        <p:nvSpPr>
          <p:cNvPr id="6" name="Footer Placeholder 5">
            <a:extLst>
              <a:ext uri="{FF2B5EF4-FFF2-40B4-BE49-F238E27FC236}">
                <a16:creationId xmlns:a16="http://schemas.microsoft.com/office/drawing/2014/main" id="{9D1A0B07-E104-37C7-4D83-88F1FB9C9D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4B480C0-EF49-1B16-6B5D-0C44DFA37C62}"/>
              </a:ext>
            </a:extLst>
          </p:cNvPr>
          <p:cNvSpPr>
            <a:spLocks noGrp="1"/>
          </p:cNvSpPr>
          <p:nvPr>
            <p:ph type="sldNum" sz="quarter" idx="12"/>
          </p:nvPr>
        </p:nvSpPr>
        <p:spPr/>
        <p:txBody>
          <a:bodyPr/>
          <a:lstStyle/>
          <a:p>
            <a:fld id="{8637CBE2-5EEE-452F-A8E5-D3CA04D3E76B}" type="slidenum">
              <a:rPr lang="en-US" smtClean="0"/>
              <a:t>‹#›</a:t>
            </a:fld>
            <a:endParaRPr lang="en-US"/>
          </a:p>
        </p:txBody>
      </p:sp>
    </p:spTree>
    <p:extLst>
      <p:ext uri="{BB962C8B-B14F-4D97-AF65-F5344CB8AC3E}">
        <p14:creationId xmlns:p14="http://schemas.microsoft.com/office/powerpoint/2010/main" val="3482558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CCB310-82DE-BAF7-C765-228302010E4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A7B51DC-029F-2E6E-37B5-1A64654AF86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A5C4223-BD66-059E-657E-E0B1DFC2E6E8}"/>
              </a:ext>
            </a:extLst>
          </p:cNvPr>
          <p:cNvSpPr>
            <a:spLocks noGrp="1"/>
          </p:cNvSpPr>
          <p:nvPr>
            <p:ph type="dt" sz="half" idx="10"/>
          </p:nvPr>
        </p:nvSpPr>
        <p:spPr/>
        <p:txBody>
          <a:bodyPr/>
          <a:lstStyle/>
          <a:p>
            <a:fld id="{A2A19010-272C-457C-8197-291EFC9DA86B}" type="datetimeFigureOut">
              <a:rPr lang="en-US" smtClean="0"/>
              <a:t>9/23/2026</a:t>
            </a:fld>
            <a:endParaRPr lang="en-US"/>
          </a:p>
        </p:txBody>
      </p:sp>
      <p:sp>
        <p:nvSpPr>
          <p:cNvPr id="5" name="Footer Placeholder 4">
            <a:extLst>
              <a:ext uri="{FF2B5EF4-FFF2-40B4-BE49-F238E27FC236}">
                <a16:creationId xmlns:a16="http://schemas.microsoft.com/office/drawing/2014/main" id="{286BB41E-7DB4-A1FF-4CB2-74CF6CE0DA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E9A7F96-779E-98A6-CDAF-28EBD3484268}"/>
              </a:ext>
            </a:extLst>
          </p:cNvPr>
          <p:cNvSpPr>
            <a:spLocks noGrp="1"/>
          </p:cNvSpPr>
          <p:nvPr>
            <p:ph type="sldNum" sz="quarter" idx="12"/>
          </p:nvPr>
        </p:nvSpPr>
        <p:spPr/>
        <p:txBody>
          <a:bodyPr/>
          <a:lstStyle/>
          <a:p>
            <a:fld id="{8637CBE2-5EEE-452F-A8E5-D3CA04D3E76B}" type="slidenum">
              <a:rPr lang="en-US" smtClean="0"/>
              <a:t>‹#›</a:t>
            </a:fld>
            <a:endParaRPr lang="en-US"/>
          </a:p>
        </p:txBody>
      </p:sp>
    </p:spTree>
    <p:extLst>
      <p:ext uri="{BB962C8B-B14F-4D97-AF65-F5344CB8AC3E}">
        <p14:creationId xmlns:p14="http://schemas.microsoft.com/office/powerpoint/2010/main" val="9230136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745F48F-EFE8-3905-945D-D7B05D52CB0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BEA0546-DB48-747F-1B42-3F57C51A78C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F5B553-125D-0D85-7225-572D5F5660EA}"/>
              </a:ext>
            </a:extLst>
          </p:cNvPr>
          <p:cNvSpPr>
            <a:spLocks noGrp="1"/>
          </p:cNvSpPr>
          <p:nvPr>
            <p:ph type="dt" sz="half" idx="10"/>
          </p:nvPr>
        </p:nvSpPr>
        <p:spPr/>
        <p:txBody>
          <a:bodyPr/>
          <a:lstStyle/>
          <a:p>
            <a:fld id="{A2A19010-272C-457C-8197-291EFC9DA86B}" type="datetimeFigureOut">
              <a:rPr lang="en-US" smtClean="0"/>
              <a:t>9/23/2026</a:t>
            </a:fld>
            <a:endParaRPr lang="en-US"/>
          </a:p>
        </p:txBody>
      </p:sp>
      <p:sp>
        <p:nvSpPr>
          <p:cNvPr id="5" name="Footer Placeholder 4">
            <a:extLst>
              <a:ext uri="{FF2B5EF4-FFF2-40B4-BE49-F238E27FC236}">
                <a16:creationId xmlns:a16="http://schemas.microsoft.com/office/drawing/2014/main" id="{97F97C08-67F3-4E6F-E3CF-58057F2F9DB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05FD5B5-BD77-79F8-6F44-036AB3FF65DE}"/>
              </a:ext>
            </a:extLst>
          </p:cNvPr>
          <p:cNvSpPr>
            <a:spLocks noGrp="1"/>
          </p:cNvSpPr>
          <p:nvPr>
            <p:ph type="sldNum" sz="quarter" idx="12"/>
          </p:nvPr>
        </p:nvSpPr>
        <p:spPr/>
        <p:txBody>
          <a:bodyPr/>
          <a:lstStyle/>
          <a:p>
            <a:fld id="{8637CBE2-5EEE-452F-A8E5-D3CA04D3E76B}" type="slidenum">
              <a:rPr lang="en-US" smtClean="0"/>
              <a:t>‹#›</a:t>
            </a:fld>
            <a:endParaRPr lang="en-US"/>
          </a:p>
        </p:txBody>
      </p:sp>
    </p:spTree>
    <p:extLst>
      <p:ext uri="{BB962C8B-B14F-4D97-AF65-F5344CB8AC3E}">
        <p14:creationId xmlns:p14="http://schemas.microsoft.com/office/powerpoint/2010/main" val="29855821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7FD3F17-8175-DBC5-AA1B-9C595C55094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9A5F939-BF6B-0F88-7A06-BB9F999D8EC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DDB93D-3D0D-1F39-58B9-38509F4060F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2A19010-272C-457C-8197-291EFC9DA86B}" type="datetimeFigureOut">
              <a:rPr lang="en-US" smtClean="0"/>
              <a:t>9/23/2026</a:t>
            </a:fld>
            <a:endParaRPr lang="en-US"/>
          </a:p>
        </p:txBody>
      </p:sp>
      <p:sp>
        <p:nvSpPr>
          <p:cNvPr id="5" name="Footer Placeholder 4">
            <a:extLst>
              <a:ext uri="{FF2B5EF4-FFF2-40B4-BE49-F238E27FC236}">
                <a16:creationId xmlns:a16="http://schemas.microsoft.com/office/drawing/2014/main" id="{B6D966EC-B1D7-A028-8A15-902F5565C39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6754B8C0-F33C-4941-FEF1-9EB0BE1C0CF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637CBE2-5EEE-452F-A8E5-D3CA04D3E76B}" type="slidenum">
              <a:rPr lang="en-US" smtClean="0"/>
              <a:t>‹#›</a:t>
            </a:fld>
            <a:endParaRPr lang="en-US"/>
          </a:p>
        </p:txBody>
      </p:sp>
    </p:spTree>
    <p:extLst>
      <p:ext uri="{BB962C8B-B14F-4D97-AF65-F5344CB8AC3E}">
        <p14:creationId xmlns:p14="http://schemas.microsoft.com/office/powerpoint/2010/main" val="370060137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5E65BD6-B967-9373-8264-445AD2CCA1F2}"/>
              </a:ext>
            </a:extLst>
          </p:cNvPr>
          <p:cNvSpPr txBox="1"/>
          <p:nvPr/>
        </p:nvSpPr>
        <p:spPr>
          <a:xfrm>
            <a:off x="711200" y="914400"/>
            <a:ext cx="10414000" cy="369332"/>
          </a:xfrm>
          <a:prstGeom prst="rect">
            <a:avLst/>
          </a:prstGeom>
          <a:noFill/>
        </p:spPr>
        <p:txBody>
          <a:bodyPr vert="horz" wrap="square" lIns="0" tIns="0" rIns="0" bIns="0" rtlCol="0">
            <a:noAutofit/>
          </a:bodyPr>
          <a:lstStyle/>
          <a:p>
            <a:pPr>
              <a:lnSpc>
                <a:spcPct val="150000"/>
              </a:lnSpc>
            </a:pPr>
            <a:r>
              <a:rPr lang="en-US" sz="1400">
                <a:solidFill>
                  <a:srgbClr val="3B3B3B"/>
                </a:solidFill>
                <a:latin typeface="League Gothic" pitchFamily="2" charset="0"/>
              </a:rPr>
              <a:t>PORTFOLIO SAMPLE</a:t>
            </a:r>
          </a:p>
        </p:txBody>
      </p:sp>
      <p:sp>
        <p:nvSpPr>
          <p:cNvPr id="3" name="TextBox 2">
            <a:extLst>
              <a:ext uri="{FF2B5EF4-FFF2-40B4-BE49-F238E27FC236}">
                <a16:creationId xmlns:a16="http://schemas.microsoft.com/office/drawing/2014/main" id="{694D620A-4E90-FC1F-39C3-1D0BB5AA6571}"/>
              </a:ext>
            </a:extLst>
          </p:cNvPr>
          <p:cNvSpPr txBox="1"/>
          <p:nvPr/>
        </p:nvSpPr>
        <p:spPr>
          <a:xfrm>
            <a:off x="711200" y="1397000"/>
            <a:ext cx="10668000" cy="369332"/>
          </a:xfrm>
          <a:prstGeom prst="rect">
            <a:avLst/>
          </a:prstGeom>
          <a:noFill/>
        </p:spPr>
        <p:txBody>
          <a:bodyPr vert="horz" wrap="square" lIns="0" tIns="0" rIns="0" bIns="0" rtlCol="0">
            <a:noAutofit/>
          </a:bodyPr>
          <a:lstStyle/>
          <a:p>
            <a:pPr>
              <a:lnSpc>
                <a:spcPct val="150000"/>
              </a:lnSpc>
            </a:pPr>
            <a:r>
              <a:rPr lang="en-US" sz="4000" b="1">
                <a:solidFill>
                  <a:srgbClr val="3B3B3B"/>
                </a:solidFill>
                <a:latin typeface="Open Sauce One" pitchFamily="2" charset="0"/>
              </a:rPr>
              <a:t>Before you paste, classify.</a:t>
            </a:r>
          </a:p>
        </p:txBody>
      </p:sp>
      <p:sp>
        <p:nvSpPr>
          <p:cNvPr id="4" name="TextBox 3">
            <a:extLst>
              <a:ext uri="{FF2B5EF4-FFF2-40B4-BE49-F238E27FC236}">
                <a16:creationId xmlns:a16="http://schemas.microsoft.com/office/drawing/2014/main" id="{5243CF0A-D739-3B87-3C77-C12306EE8BAE}"/>
              </a:ext>
            </a:extLst>
          </p:cNvPr>
          <p:cNvSpPr txBox="1"/>
          <p:nvPr/>
        </p:nvSpPr>
        <p:spPr>
          <a:xfrm>
            <a:off x="711200" y="2667000"/>
            <a:ext cx="9652000" cy="369332"/>
          </a:xfrm>
          <a:prstGeom prst="rect">
            <a:avLst/>
          </a:prstGeom>
          <a:noFill/>
        </p:spPr>
        <p:txBody>
          <a:bodyPr vert="horz" wrap="square" lIns="0" tIns="0" rIns="0" bIns="0" rtlCol="0">
            <a:noAutofit/>
          </a:bodyPr>
          <a:lstStyle/>
          <a:p>
            <a:pPr>
              <a:lnSpc>
                <a:spcPct val="150000"/>
              </a:lnSpc>
            </a:pPr>
            <a:r>
              <a:rPr lang="en-US" sz="2200">
                <a:solidFill>
                  <a:srgbClr val="3B3B3B"/>
                </a:solidFill>
                <a:latin typeface="Open Sauce One" pitchFamily="2" charset="0"/>
              </a:rPr>
              <a:t>A 30-second habit for remote teams using AI and shared files.</a:t>
            </a:r>
          </a:p>
        </p:txBody>
      </p:sp>
      <p:sp>
        <p:nvSpPr>
          <p:cNvPr id="5" name="TextBox 4">
            <a:extLst>
              <a:ext uri="{FF2B5EF4-FFF2-40B4-BE49-F238E27FC236}">
                <a16:creationId xmlns:a16="http://schemas.microsoft.com/office/drawing/2014/main" id="{3B27F169-D200-CE13-DA34-3D4308C58E8F}"/>
              </a:ext>
            </a:extLst>
          </p:cNvPr>
          <p:cNvSpPr txBox="1"/>
          <p:nvPr/>
        </p:nvSpPr>
        <p:spPr>
          <a:xfrm>
            <a:off x="711200" y="3683000"/>
            <a:ext cx="9652000" cy="369332"/>
          </a:xfrm>
          <a:prstGeom prst="rect">
            <a:avLst/>
          </a:prstGeom>
          <a:noFill/>
        </p:spPr>
        <p:txBody>
          <a:bodyPr vert="horz" wrap="square" lIns="0" tIns="0" rIns="0" bIns="0" rtlCol="0">
            <a:noAutofit/>
          </a:bodyPr>
          <a:lstStyle/>
          <a:p>
            <a:pPr>
              <a:lnSpc>
                <a:spcPct val="150000"/>
              </a:lnSpc>
            </a:pPr>
            <a:r>
              <a:rPr lang="en-US">
                <a:solidFill>
                  <a:srgbClr val="3B3B3B"/>
                </a:solidFill>
                <a:latin typeface="League Gothic" pitchFamily="2" charset="0"/>
              </a:rPr>
              <a:t>One-page cheat sheet + 15-minute module.</a:t>
            </a:r>
          </a:p>
        </p:txBody>
      </p:sp>
      <p:sp>
        <p:nvSpPr>
          <p:cNvPr id="6" name="TextBox 5">
            <a:extLst>
              <a:ext uri="{FF2B5EF4-FFF2-40B4-BE49-F238E27FC236}">
                <a16:creationId xmlns:a16="http://schemas.microsoft.com/office/drawing/2014/main" id="{5C0C7E9B-F632-E314-7FFE-1CCEC975C350}"/>
              </a:ext>
            </a:extLst>
          </p:cNvPr>
          <p:cNvSpPr txBox="1"/>
          <p:nvPr/>
        </p:nvSpPr>
        <p:spPr>
          <a:xfrm>
            <a:off x="711200" y="5969000"/>
            <a:ext cx="9652000" cy="369332"/>
          </a:xfrm>
          <a:prstGeom prst="rect">
            <a:avLst/>
          </a:prstGeom>
          <a:noFill/>
        </p:spPr>
        <p:txBody>
          <a:bodyPr vert="horz" wrap="square" lIns="0" tIns="0" rIns="0" bIns="0" rtlCol="0">
            <a:noAutofit/>
          </a:bodyPr>
          <a:lstStyle/>
          <a:p>
            <a:pPr>
              <a:lnSpc>
                <a:spcPct val="150000"/>
              </a:lnSpc>
            </a:pPr>
            <a:r>
              <a:rPr lang="en-US" sz="1400">
                <a:solidFill>
                  <a:srgbClr val="3B3B3B"/>
                </a:solidFill>
                <a:latin typeface="Open Sauce One" pitchFamily="2" charset="0"/>
              </a:rPr>
              <a:t>Keith Byne  -  a portfolio sample, not a named client project.</a:t>
            </a:r>
          </a:p>
        </p:txBody>
      </p:sp>
    </p:spTree>
    <p:extLst>
      <p:ext uri="{BB962C8B-B14F-4D97-AF65-F5344CB8AC3E}">
        <p14:creationId xmlns:p14="http://schemas.microsoft.com/office/powerpoint/2010/main" val="24895694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B7C955B-5DB1-3A54-E9F3-BB891E59E024}"/>
              </a:ext>
            </a:extLst>
          </p:cNvPr>
          <p:cNvSpPr txBox="1"/>
          <p:nvPr/>
        </p:nvSpPr>
        <p:spPr>
          <a:xfrm>
            <a:off x="711200" y="355600"/>
            <a:ext cx="10414000" cy="369332"/>
          </a:xfrm>
          <a:prstGeom prst="rect">
            <a:avLst/>
          </a:prstGeom>
          <a:noFill/>
        </p:spPr>
        <p:txBody>
          <a:bodyPr vert="horz" wrap="square" lIns="0" tIns="0" rIns="0" bIns="0" rtlCol="0">
            <a:noAutofit/>
          </a:bodyPr>
          <a:lstStyle/>
          <a:p>
            <a:pPr>
              <a:lnSpc>
                <a:spcPct val="150000"/>
              </a:lnSpc>
            </a:pPr>
            <a:r>
              <a:rPr lang="en-US" sz="3200" b="1">
                <a:solidFill>
                  <a:srgbClr val="3B3B3B"/>
                </a:solidFill>
                <a:latin typeface="Open Sauce One" pitchFamily="2" charset="0"/>
              </a:rPr>
              <a:t>The problem is a paste</a:t>
            </a:r>
          </a:p>
        </p:txBody>
      </p:sp>
      <p:sp>
        <p:nvSpPr>
          <p:cNvPr id="3" name="Rectangle 2">
            <a:extLst>
              <a:ext uri="{FF2B5EF4-FFF2-40B4-BE49-F238E27FC236}">
                <a16:creationId xmlns:a16="http://schemas.microsoft.com/office/drawing/2014/main" id="{328FA219-3E65-D3CA-DB77-F14308AC5005}"/>
              </a:ext>
            </a:extLst>
          </p:cNvPr>
          <p:cNvSpPr/>
          <p:nvPr/>
        </p:nvSpPr>
        <p:spPr>
          <a:xfrm>
            <a:off x="711200" y="1092200"/>
            <a:ext cx="5207000" cy="2540000"/>
          </a:xfrm>
          <a:prstGeom prst="rect">
            <a:avLst/>
          </a:prstGeom>
          <a:solidFill>
            <a:srgbClr val="E8DED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t"/>
          <a:lstStyle/>
          <a:p>
            <a:pPr algn="ctr">
              <a:lnSpc>
                <a:spcPct val="150000"/>
              </a:lnSpc>
              <a:spcAft>
                <a:spcPct val="100000"/>
              </a:spcAft>
            </a:pPr>
            <a:r>
              <a:rPr lang="en-US" sz="2400">
                <a:solidFill>
                  <a:srgbClr val="3B3B3B"/>
                </a:solidFill>
                <a:latin typeface="League Gothic" pitchFamily="2" charset="0"/>
              </a:rPr>
              <a:t>1</a:t>
            </a:r>
          </a:p>
          <a:p>
            <a:pPr algn="ctr">
              <a:lnSpc>
                <a:spcPct val="150000"/>
              </a:lnSpc>
            </a:pPr>
            <a:r>
              <a:rPr lang="en-US">
                <a:solidFill>
                  <a:srgbClr val="3B3B3B"/>
                </a:solidFill>
                <a:latin typeface="Open Sauce One" pitchFamily="2" charset="0"/>
              </a:rPr>
              <a:t>Just drop this into ChatGPT and tidy it.</a:t>
            </a:r>
          </a:p>
        </p:txBody>
      </p:sp>
      <p:sp>
        <p:nvSpPr>
          <p:cNvPr id="4" name="Rectangle 3">
            <a:extLst>
              <a:ext uri="{FF2B5EF4-FFF2-40B4-BE49-F238E27FC236}">
                <a16:creationId xmlns:a16="http://schemas.microsoft.com/office/drawing/2014/main" id="{6BA9AA62-A03F-EA77-B841-245E30477D0A}"/>
              </a:ext>
            </a:extLst>
          </p:cNvPr>
          <p:cNvSpPr/>
          <p:nvPr/>
        </p:nvSpPr>
        <p:spPr>
          <a:xfrm>
            <a:off x="6273800" y="1092200"/>
            <a:ext cx="5207000" cy="2540000"/>
          </a:xfrm>
          <a:prstGeom prst="rect">
            <a:avLst/>
          </a:prstGeom>
          <a:solidFill>
            <a:srgbClr val="E8DED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t"/>
          <a:lstStyle/>
          <a:p>
            <a:pPr algn="ctr">
              <a:lnSpc>
                <a:spcPct val="150000"/>
              </a:lnSpc>
              <a:spcAft>
                <a:spcPct val="100000"/>
              </a:spcAft>
            </a:pPr>
            <a:r>
              <a:rPr lang="en-US" sz="2400">
                <a:solidFill>
                  <a:srgbClr val="3B3B3B"/>
                </a:solidFill>
                <a:latin typeface="League Gothic" pitchFamily="2" charset="0"/>
              </a:rPr>
              <a:t>2</a:t>
            </a:r>
          </a:p>
          <a:p>
            <a:pPr algn="ctr">
              <a:lnSpc>
                <a:spcPct val="150000"/>
              </a:lnSpc>
            </a:pPr>
            <a:r>
              <a:rPr lang="en-US">
                <a:solidFill>
                  <a:srgbClr val="3B3B3B"/>
                </a:solidFill>
                <a:latin typeface="Open Sauce One" pitchFamily="2" charset="0"/>
              </a:rPr>
              <a:t>Put it on my personal Drive so the contractor can edit overnight.</a:t>
            </a:r>
          </a:p>
        </p:txBody>
      </p:sp>
      <p:sp>
        <p:nvSpPr>
          <p:cNvPr id="5" name="TextBox 4">
            <a:extLst>
              <a:ext uri="{FF2B5EF4-FFF2-40B4-BE49-F238E27FC236}">
                <a16:creationId xmlns:a16="http://schemas.microsoft.com/office/drawing/2014/main" id="{27EC9333-D87B-4C10-9A6D-2B710C52DEB3}"/>
              </a:ext>
            </a:extLst>
          </p:cNvPr>
          <p:cNvSpPr txBox="1"/>
          <p:nvPr/>
        </p:nvSpPr>
        <p:spPr>
          <a:xfrm>
            <a:off x="711200" y="3759200"/>
            <a:ext cx="10769600" cy="369332"/>
          </a:xfrm>
          <a:prstGeom prst="rect">
            <a:avLst/>
          </a:prstGeom>
          <a:noFill/>
        </p:spPr>
        <p:txBody>
          <a:bodyPr vert="horz" wrap="square" lIns="0" tIns="0" rIns="0" bIns="0" rtlCol="0">
            <a:noAutofit/>
          </a:bodyPr>
          <a:lstStyle/>
          <a:p>
            <a:pPr>
              <a:lnSpc>
                <a:spcPct val="150000"/>
              </a:lnSpc>
            </a:pPr>
            <a:r>
              <a:rPr lang="en-US" sz="1600">
                <a:solidFill>
                  <a:srgbClr val="3B3B3B"/>
                </a:solidFill>
                <a:latin typeface="Open Sauce One" pitchFamily="2" charset="0"/>
              </a:rPr>
              <a:t>Both are faster than the allowed path. Both create GDPR and leak risk.</a:t>
            </a:r>
          </a:p>
        </p:txBody>
      </p:sp>
      <p:sp>
        <p:nvSpPr>
          <p:cNvPr id="6" name="TextBox 5">
            <a:extLst>
              <a:ext uri="{FF2B5EF4-FFF2-40B4-BE49-F238E27FC236}">
                <a16:creationId xmlns:a16="http://schemas.microsoft.com/office/drawing/2014/main" id="{13586621-73F2-6107-6BFC-35E8A1DCE7D1}"/>
              </a:ext>
            </a:extLst>
          </p:cNvPr>
          <p:cNvSpPr txBox="1"/>
          <p:nvPr/>
        </p:nvSpPr>
        <p:spPr>
          <a:xfrm>
            <a:off x="711200" y="4165600"/>
            <a:ext cx="5080000" cy="369332"/>
          </a:xfrm>
          <a:prstGeom prst="rect">
            <a:avLst/>
          </a:prstGeom>
          <a:noFill/>
        </p:spPr>
        <p:txBody>
          <a:bodyPr vert="horz" wrap="square" lIns="0" tIns="0" rIns="0" bIns="0" rtlCol="0">
            <a:noAutofit/>
          </a:bodyPr>
          <a:lstStyle/>
          <a:p>
            <a:pPr>
              <a:lnSpc>
                <a:spcPct val="150000"/>
              </a:lnSpc>
            </a:pPr>
            <a:r>
              <a:rPr lang="en-US" sz="1400">
                <a:solidFill>
                  <a:srgbClr val="3B3B3B"/>
                </a:solidFill>
                <a:latin typeface="Open Sauce One" pitchFamily="2" charset="0"/>
              </a:rPr>
              <a:t>Click a choice.</a:t>
            </a:r>
          </a:p>
        </p:txBody>
      </p:sp>
      <p:sp>
        <p:nvSpPr>
          <p:cNvPr id="7" name="PasteChoice">
            <a:extLst>
              <a:ext uri="{FF2B5EF4-FFF2-40B4-BE49-F238E27FC236}">
                <a16:creationId xmlns:a16="http://schemas.microsoft.com/office/drawing/2014/main" id="{D7C2D72B-2BE4-E746-EA5D-8D691EF97650}"/>
              </a:ext>
            </a:extLst>
          </p:cNvPr>
          <p:cNvSpPr/>
          <p:nvPr/>
        </p:nvSpPr>
        <p:spPr>
          <a:xfrm>
            <a:off x="711200" y="4495800"/>
            <a:ext cx="5207000" cy="736600"/>
          </a:xfrm>
          <a:prstGeom prst="rect">
            <a:avLst/>
          </a:prstGeom>
          <a:solidFill>
            <a:srgbClr val="E6E6E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ctr"/>
          <a:lstStyle/>
          <a:p>
            <a:pPr algn="ctr">
              <a:lnSpc>
                <a:spcPct val="150000"/>
              </a:lnSpc>
            </a:pPr>
            <a:r>
              <a:rPr lang="en-US" sz="2400">
                <a:solidFill>
                  <a:srgbClr val="3B3B3B"/>
                </a:solidFill>
                <a:latin typeface="League Gothic" pitchFamily="2" charset="0"/>
              </a:rPr>
              <a:t>Paste it now</a:t>
            </a:r>
          </a:p>
        </p:txBody>
      </p:sp>
      <p:sp>
        <p:nvSpPr>
          <p:cNvPr id="8" name="NameChoice">
            <a:extLst>
              <a:ext uri="{FF2B5EF4-FFF2-40B4-BE49-F238E27FC236}">
                <a16:creationId xmlns:a16="http://schemas.microsoft.com/office/drawing/2014/main" id="{75692185-4423-7408-1D8F-675CB434024E}"/>
              </a:ext>
            </a:extLst>
          </p:cNvPr>
          <p:cNvSpPr/>
          <p:nvPr/>
        </p:nvSpPr>
        <p:spPr>
          <a:xfrm>
            <a:off x="6273800" y="4495800"/>
            <a:ext cx="5207000" cy="736600"/>
          </a:xfrm>
          <a:prstGeom prst="rect">
            <a:avLst/>
          </a:prstGeom>
          <a:solidFill>
            <a:srgbClr val="DBE0D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ctr"/>
          <a:lstStyle/>
          <a:p>
            <a:pPr algn="ctr">
              <a:lnSpc>
                <a:spcPct val="150000"/>
              </a:lnSpc>
            </a:pPr>
            <a:r>
              <a:rPr lang="en-US" sz="2400">
                <a:solidFill>
                  <a:srgbClr val="3B3B3B"/>
                </a:solidFill>
                <a:latin typeface="League Gothic" pitchFamily="2" charset="0"/>
              </a:rPr>
              <a:t>Name the data first</a:t>
            </a:r>
          </a:p>
        </p:txBody>
      </p:sp>
      <p:sp>
        <p:nvSpPr>
          <p:cNvPr id="9" name="WrongBox">
            <a:extLst>
              <a:ext uri="{FF2B5EF4-FFF2-40B4-BE49-F238E27FC236}">
                <a16:creationId xmlns:a16="http://schemas.microsoft.com/office/drawing/2014/main" id="{9BC1FF8C-A31C-59EE-5524-CD4C39C3974B}"/>
              </a:ext>
            </a:extLst>
          </p:cNvPr>
          <p:cNvSpPr/>
          <p:nvPr/>
        </p:nvSpPr>
        <p:spPr>
          <a:xfrm>
            <a:off x="711200" y="5384800"/>
            <a:ext cx="5207000" cy="1270000"/>
          </a:xfrm>
          <a:prstGeom prst="rect">
            <a:avLst/>
          </a:prstGeom>
          <a:solidFill>
            <a:srgbClr val="E8DED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ctr"/>
          <a:lstStyle/>
          <a:p>
            <a:pPr algn="ctr">
              <a:lnSpc>
                <a:spcPct val="150000"/>
              </a:lnSpc>
              <a:spcAft>
                <a:spcPct val="100000"/>
              </a:spcAft>
            </a:pPr>
            <a:r>
              <a:rPr lang="en-US" sz="2100">
                <a:solidFill>
                  <a:srgbClr val="3B3B3B"/>
                </a:solidFill>
                <a:latin typeface="League Gothic" pitchFamily="2" charset="0"/>
              </a:rPr>
              <a:t>Wrong</a:t>
            </a:r>
          </a:p>
          <a:p>
            <a:pPr algn="ctr">
              <a:lnSpc>
                <a:spcPct val="150000"/>
              </a:lnSpc>
            </a:pPr>
            <a:r>
              <a:rPr lang="en-US" sz="1600">
                <a:solidFill>
                  <a:srgbClr val="3B3B3B"/>
                </a:solidFill>
                <a:latin typeface="Open Sauce One" pitchFamily="2" charset="0"/>
              </a:rPr>
              <a:t>That is the leak.</a:t>
            </a:r>
          </a:p>
        </p:txBody>
      </p:sp>
      <p:sp>
        <p:nvSpPr>
          <p:cNvPr id="10" name="RightBox">
            <a:extLst>
              <a:ext uri="{FF2B5EF4-FFF2-40B4-BE49-F238E27FC236}">
                <a16:creationId xmlns:a16="http://schemas.microsoft.com/office/drawing/2014/main" id="{8CB96FEB-190C-B0E9-62BE-F35750EB88A1}"/>
              </a:ext>
            </a:extLst>
          </p:cNvPr>
          <p:cNvSpPr/>
          <p:nvPr/>
        </p:nvSpPr>
        <p:spPr>
          <a:xfrm>
            <a:off x="6273800" y="5384800"/>
            <a:ext cx="5207000" cy="1270000"/>
          </a:xfrm>
          <a:prstGeom prst="rect">
            <a:avLst/>
          </a:prstGeom>
          <a:solidFill>
            <a:srgbClr val="DBE0D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ctr"/>
          <a:lstStyle/>
          <a:p>
            <a:pPr algn="ctr">
              <a:lnSpc>
                <a:spcPct val="150000"/>
              </a:lnSpc>
              <a:spcAft>
                <a:spcPct val="100000"/>
              </a:spcAft>
            </a:pPr>
            <a:r>
              <a:rPr lang="en-US" sz="2100">
                <a:solidFill>
                  <a:srgbClr val="3B3B3B"/>
                </a:solidFill>
                <a:latin typeface="League Gothic" pitchFamily="2" charset="0"/>
              </a:rPr>
              <a:t>Right</a:t>
            </a:r>
          </a:p>
          <a:p>
            <a:pPr algn="ctr">
              <a:lnSpc>
                <a:spcPct val="150000"/>
              </a:lnSpc>
            </a:pPr>
            <a:r>
              <a:rPr lang="en-US" sz="1600">
                <a:solidFill>
                  <a:srgbClr val="3B3B3B"/>
                </a:solidFill>
                <a:latin typeface="Open Sauce One" pitchFamily="2" charset="0"/>
              </a:rPr>
              <a:t>Classify, then choose a path.</a:t>
            </a:r>
          </a:p>
        </p:txBody>
      </p:sp>
    </p:spTree>
    <p:extLst>
      <p:ext uri="{BB962C8B-B14F-4D97-AF65-F5344CB8AC3E}">
        <p14:creationId xmlns:p14="http://schemas.microsoft.com/office/powerpoint/2010/main" val="1865472540"/>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7"/>
                    </p:tgtEl>
                  </p:cond>
                </p:stCondLst>
                <p:endSync evt="end" delay="0">
                  <p:rtn val="all"/>
                </p:endSync>
                <p:childTnLst>
                  <p:par>
                    <p:cTn id="3" fill="hold">
                      <p:stCondLst>
                        <p:cond delay="0"/>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nextCondLst>
                <p:cond evt="onClick" delay="0">
                  <p:tgtEl>
                    <p:spTgt spid="7"/>
                  </p:tgtEl>
                </p:cond>
              </p:nextCondLst>
            </p:seq>
            <p:seq concurrent="1" nextAc="seek">
              <p:cTn id="7" restart="whenNotActive" fill="hold" evtFilter="cancelBubble" nodeType="interactiveSeq">
                <p:stCondLst>
                  <p:cond evt="onClick" delay="0">
                    <p:tgtEl>
                      <p:spTgt spid="8"/>
                    </p:tgtEl>
                  </p:cond>
                </p:stCondLst>
                <p:endSync evt="end" delay="0">
                  <p:rtn val="all"/>
                </p:endSync>
                <p:childTnLst>
                  <p:par>
                    <p:cTn id="8" fill="hold">
                      <p:stCondLst>
                        <p:cond delay="0"/>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childTnLst>
                                </p:cTn>
                              </p:par>
                            </p:childTnLst>
                          </p:cTn>
                        </p:par>
                      </p:childTnLst>
                    </p:cTn>
                  </p:par>
                </p:childTnLst>
              </p:cTn>
              <p:nextCondLst>
                <p:cond evt="onClick" delay="0">
                  <p:tgtEl>
                    <p:spTgt spid="8"/>
                  </p:tgtEl>
                </p:cond>
              </p:nextCondLst>
            </p:seq>
          </p:childTnLst>
        </p:cTn>
      </p:par>
    </p:tnLst>
    <p:bldLst>
      <p:bldP spid="9" grpId="0" animBg="1"/>
      <p:bldP spid="10"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6EE16FD-8680-B872-F6B1-C254107DA023}"/>
              </a:ext>
            </a:extLst>
          </p:cNvPr>
          <p:cNvSpPr txBox="1"/>
          <p:nvPr/>
        </p:nvSpPr>
        <p:spPr>
          <a:xfrm>
            <a:off x="711200" y="406400"/>
            <a:ext cx="10414000" cy="369332"/>
          </a:xfrm>
          <a:prstGeom prst="rect">
            <a:avLst/>
          </a:prstGeom>
          <a:noFill/>
        </p:spPr>
        <p:txBody>
          <a:bodyPr vert="horz" wrap="square" lIns="0" tIns="0" rIns="0" bIns="0" rtlCol="0">
            <a:noAutofit/>
          </a:bodyPr>
          <a:lstStyle/>
          <a:p>
            <a:pPr>
              <a:lnSpc>
                <a:spcPct val="150000"/>
              </a:lnSpc>
            </a:pPr>
            <a:r>
              <a:rPr lang="en-US" sz="3200" b="1">
                <a:solidFill>
                  <a:srgbClr val="3B3B3B"/>
                </a:solidFill>
                <a:latin typeface="Open Sauce One" pitchFamily="2" charset="0"/>
              </a:rPr>
              <a:t>The 30 seconds that matter</a:t>
            </a:r>
          </a:p>
        </p:txBody>
      </p:sp>
      <p:sp>
        <p:nvSpPr>
          <p:cNvPr id="3" name="Rectangle 2">
            <a:extLst>
              <a:ext uri="{FF2B5EF4-FFF2-40B4-BE49-F238E27FC236}">
                <a16:creationId xmlns:a16="http://schemas.microsoft.com/office/drawing/2014/main" id="{48AA71DC-D480-D86B-28BE-0D303559434B}"/>
              </a:ext>
            </a:extLst>
          </p:cNvPr>
          <p:cNvSpPr/>
          <p:nvPr/>
        </p:nvSpPr>
        <p:spPr>
          <a:xfrm>
            <a:off x="711200" y="1219200"/>
            <a:ext cx="10769600" cy="1524000"/>
          </a:xfrm>
          <a:prstGeom prst="rect">
            <a:avLst/>
          </a:prstGeom>
          <a:solidFill>
            <a:srgbClr val="E6E6E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t"/>
          <a:lstStyle/>
          <a:p>
            <a:pPr algn="ctr">
              <a:lnSpc>
                <a:spcPct val="150000"/>
              </a:lnSpc>
              <a:spcAft>
                <a:spcPct val="100000"/>
              </a:spcAft>
            </a:pPr>
            <a:r>
              <a:rPr lang="en-US" sz="2400">
                <a:solidFill>
                  <a:srgbClr val="3B3B3B"/>
                </a:solidFill>
                <a:latin typeface="League Gothic" pitchFamily="2" charset="0"/>
              </a:rPr>
              <a:t>Who</a:t>
            </a:r>
          </a:p>
          <a:p>
            <a:pPr algn="ctr">
              <a:lnSpc>
                <a:spcPct val="150000"/>
              </a:lnSpc>
            </a:pPr>
            <a:r>
              <a:rPr lang="en-US">
                <a:solidFill>
                  <a:srgbClr val="3B3B3B"/>
                </a:solidFill>
                <a:latin typeface="Open Sauce One" pitchFamily="2" charset="0"/>
              </a:rPr>
              <a:t>Knowledge workers on a distributed EU team.</a:t>
            </a:r>
          </a:p>
        </p:txBody>
      </p:sp>
      <p:sp>
        <p:nvSpPr>
          <p:cNvPr id="4" name="Rectangle 3">
            <a:extLst>
              <a:ext uri="{FF2B5EF4-FFF2-40B4-BE49-F238E27FC236}">
                <a16:creationId xmlns:a16="http://schemas.microsoft.com/office/drawing/2014/main" id="{B9710F1D-BA0A-7310-57ED-717EB1D17EBB}"/>
              </a:ext>
            </a:extLst>
          </p:cNvPr>
          <p:cNvSpPr/>
          <p:nvPr/>
        </p:nvSpPr>
        <p:spPr>
          <a:xfrm>
            <a:off x="711200" y="2895600"/>
            <a:ext cx="10769600" cy="1524000"/>
          </a:xfrm>
          <a:prstGeom prst="rect">
            <a:avLst/>
          </a:prstGeom>
          <a:solidFill>
            <a:srgbClr val="E6E6E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t"/>
          <a:lstStyle/>
          <a:p>
            <a:pPr algn="ctr">
              <a:lnSpc>
                <a:spcPct val="150000"/>
              </a:lnSpc>
              <a:spcAft>
                <a:spcPct val="100000"/>
              </a:spcAft>
            </a:pPr>
            <a:r>
              <a:rPr lang="en-US" sz="2400">
                <a:solidFill>
                  <a:srgbClr val="3B3B3B"/>
                </a:solidFill>
                <a:latin typeface="League Gothic" pitchFamily="2" charset="0"/>
              </a:rPr>
              <a:t>When</a:t>
            </a:r>
          </a:p>
          <a:p>
            <a:pPr algn="ctr">
              <a:lnSpc>
                <a:spcPct val="150000"/>
              </a:lnSpc>
            </a:pPr>
            <a:r>
              <a:rPr lang="en-US">
                <a:solidFill>
                  <a:srgbClr val="3B3B3B"/>
                </a:solidFill>
                <a:latin typeface="Open Sauce One" pitchFamily="2" charset="0"/>
              </a:rPr>
              <a:t>Before any prompt, paste, or file share.</a:t>
            </a:r>
          </a:p>
        </p:txBody>
      </p:sp>
      <p:sp>
        <p:nvSpPr>
          <p:cNvPr id="5" name="Rectangle 4">
            <a:extLst>
              <a:ext uri="{FF2B5EF4-FFF2-40B4-BE49-F238E27FC236}">
                <a16:creationId xmlns:a16="http://schemas.microsoft.com/office/drawing/2014/main" id="{DCEFF3A7-59C9-2D1D-3EEA-AB242D8E5DFA}"/>
              </a:ext>
            </a:extLst>
          </p:cNvPr>
          <p:cNvSpPr/>
          <p:nvPr/>
        </p:nvSpPr>
        <p:spPr>
          <a:xfrm>
            <a:off x="711200" y="4572000"/>
            <a:ext cx="10769600" cy="1778000"/>
          </a:xfrm>
          <a:prstGeom prst="rect">
            <a:avLst/>
          </a:prstGeom>
          <a:solidFill>
            <a:srgbClr val="E8DED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t"/>
          <a:lstStyle/>
          <a:p>
            <a:pPr algn="ctr">
              <a:lnSpc>
                <a:spcPct val="150000"/>
              </a:lnSpc>
              <a:spcAft>
                <a:spcPct val="100000"/>
              </a:spcAft>
            </a:pPr>
            <a:r>
              <a:rPr lang="en-US" sz="2400">
                <a:solidFill>
                  <a:srgbClr val="3B3B3B"/>
                </a:solidFill>
                <a:latin typeface="League Gothic" pitchFamily="2" charset="0"/>
              </a:rPr>
              <a:t>Not</a:t>
            </a:r>
          </a:p>
          <a:p>
            <a:pPr algn="ctr">
              <a:lnSpc>
                <a:spcPct val="150000"/>
              </a:lnSpc>
            </a:pPr>
            <a:r>
              <a:rPr lang="en-US">
                <a:solidFill>
                  <a:srgbClr val="3B3B3B"/>
                </a:solidFill>
                <a:latin typeface="Open Sauce One" pitchFamily="2" charset="0"/>
              </a:rPr>
              <a:t>A long compliance course. Not classroom English. Not IT-only.</a:t>
            </a:r>
          </a:p>
        </p:txBody>
      </p:sp>
      <p:sp>
        <p:nvSpPr>
          <p:cNvPr id="6" name="Rectangle 5">
            <a:extLst>
              <a:ext uri="{FF2B5EF4-FFF2-40B4-BE49-F238E27FC236}">
                <a16:creationId xmlns:a16="http://schemas.microsoft.com/office/drawing/2014/main" id="{8ABC9548-D5F6-2C64-262F-A0A3C8484EE2}"/>
              </a:ext>
            </a:extLst>
          </p:cNvPr>
          <p:cNvSpPr/>
          <p:nvPr/>
        </p:nvSpPr>
        <p:spPr>
          <a:xfrm>
            <a:off x="711200" y="1905000"/>
            <a:ext cx="10769600" cy="838200"/>
          </a:xfrm>
          <a:prstGeom prst="rect">
            <a:avLst/>
          </a:prstGeom>
          <a:solidFill>
            <a:srgbClr val="E6E6E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50800" rIns="101600" bIns="50800" rtlCol="0" anchor="ctr"/>
          <a:lstStyle/>
          <a:p>
            <a:pPr algn="ctr"/>
            <a:r>
              <a:rPr lang="en-US">
                <a:solidFill>
                  <a:srgbClr val="3B3B3B"/>
                </a:solidFill>
                <a:latin typeface="League Gothic" pitchFamily="2" charset="0"/>
              </a:rPr>
              <a:t>Click</a:t>
            </a:r>
          </a:p>
        </p:txBody>
      </p:sp>
      <p:sp>
        <p:nvSpPr>
          <p:cNvPr id="7" name="Rectangle 6">
            <a:extLst>
              <a:ext uri="{FF2B5EF4-FFF2-40B4-BE49-F238E27FC236}">
                <a16:creationId xmlns:a16="http://schemas.microsoft.com/office/drawing/2014/main" id="{A00365B3-4681-2275-3814-47903A93CBF7}"/>
              </a:ext>
            </a:extLst>
          </p:cNvPr>
          <p:cNvSpPr/>
          <p:nvPr/>
        </p:nvSpPr>
        <p:spPr>
          <a:xfrm>
            <a:off x="711200" y="3581400"/>
            <a:ext cx="10769600" cy="838200"/>
          </a:xfrm>
          <a:prstGeom prst="rect">
            <a:avLst/>
          </a:prstGeom>
          <a:solidFill>
            <a:srgbClr val="E6E6E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50800" rIns="101600" bIns="50800" rtlCol="0" anchor="ctr"/>
          <a:lstStyle/>
          <a:p>
            <a:pPr algn="ctr"/>
            <a:r>
              <a:rPr lang="en-US">
                <a:solidFill>
                  <a:srgbClr val="3B3B3B"/>
                </a:solidFill>
                <a:latin typeface="League Gothic" pitchFamily="2" charset="0"/>
              </a:rPr>
              <a:t>Click</a:t>
            </a:r>
          </a:p>
        </p:txBody>
      </p:sp>
      <p:sp>
        <p:nvSpPr>
          <p:cNvPr id="8" name="Rectangle 7">
            <a:extLst>
              <a:ext uri="{FF2B5EF4-FFF2-40B4-BE49-F238E27FC236}">
                <a16:creationId xmlns:a16="http://schemas.microsoft.com/office/drawing/2014/main" id="{456AABEB-57F9-77D1-7D6E-B5EBFF62538D}"/>
              </a:ext>
            </a:extLst>
          </p:cNvPr>
          <p:cNvSpPr/>
          <p:nvPr/>
        </p:nvSpPr>
        <p:spPr>
          <a:xfrm>
            <a:off x="711200" y="5257800"/>
            <a:ext cx="10769600" cy="1092200"/>
          </a:xfrm>
          <a:prstGeom prst="rect">
            <a:avLst/>
          </a:prstGeom>
          <a:solidFill>
            <a:srgbClr val="E8DED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50800" rIns="101600" bIns="50800" rtlCol="0" anchor="ctr"/>
          <a:lstStyle/>
          <a:p>
            <a:pPr algn="ctr"/>
            <a:r>
              <a:rPr lang="en-US">
                <a:solidFill>
                  <a:srgbClr val="3B3B3B"/>
                </a:solidFill>
                <a:latin typeface="League Gothic" pitchFamily="2" charset="0"/>
              </a:rPr>
              <a:t>Click</a:t>
            </a:r>
          </a:p>
        </p:txBody>
      </p:sp>
      <p:sp useBgFill="1">
        <p:nvSpPr>
          <p:cNvPr id="9" name="Rectangle 8">
            <a:extLst>
              <a:ext uri="{FF2B5EF4-FFF2-40B4-BE49-F238E27FC236}">
                <a16:creationId xmlns:a16="http://schemas.microsoft.com/office/drawing/2014/main" id="{AF769FD8-5DC0-3B1D-75F9-0FA4183B811F}"/>
              </a:ext>
            </a:extLst>
          </p:cNvPr>
          <p:cNvSpPr/>
          <p:nvPr/>
        </p:nvSpPr>
        <p:spPr bwMode="white">
          <a:xfrm>
            <a:off x="11468100" y="0"/>
            <a:ext cx="7239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86863423"/>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6"/>
                    </p:tgtEl>
                  </p:cond>
                </p:stCondLst>
                <p:endSync evt="end" delay="0">
                  <p:rtn val="all"/>
                </p:endSync>
                <p:childTnLst>
                  <p:par>
                    <p:cTn id="3" fill="hold">
                      <p:stCondLst>
                        <p:cond delay="0"/>
                      </p:stCondLst>
                      <p:childTnLst>
                        <p:par>
                          <p:cTn id="4" fill="hold">
                            <p:stCondLst>
                              <p:cond delay="0"/>
                            </p:stCondLst>
                            <p:childTnLst>
                              <p:par>
                                <p:cTn id="5" presetID="2" presetClass="exit" presetSubtype="2" fill="hold" grpId="0" nodeType="clickEffect">
                                  <p:stCondLst>
                                    <p:cond delay="0"/>
                                  </p:stCondLst>
                                  <p:childTnLst>
                                    <p:anim calcmode="lin" valueType="num">
                                      <p:cBhvr additive="base">
                                        <p:cTn id="6" dur="800"/>
                                        <p:tgtEl>
                                          <p:spTgt spid="6"/>
                                        </p:tgtEl>
                                        <p:attrNameLst>
                                          <p:attrName>ppt_x</p:attrName>
                                        </p:attrNameLst>
                                      </p:cBhvr>
                                      <p:tavLst>
                                        <p:tav tm="0">
                                          <p:val>
                                            <p:strVal val="ppt_x"/>
                                          </p:val>
                                        </p:tav>
                                        <p:tav tm="100000">
                                          <p:val>
                                            <p:strVal val="1+ppt_w/2"/>
                                          </p:val>
                                        </p:tav>
                                      </p:tavLst>
                                    </p:anim>
                                    <p:anim calcmode="lin" valueType="num">
                                      <p:cBhvr additive="base">
                                        <p:cTn id="7" dur="800"/>
                                        <p:tgtEl>
                                          <p:spTgt spid="6"/>
                                        </p:tgtEl>
                                        <p:attrNameLst>
                                          <p:attrName>ppt_y</p:attrName>
                                        </p:attrNameLst>
                                      </p:cBhvr>
                                      <p:tavLst>
                                        <p:tav tm="0">
                                          <p:val>
                                            <p:strVal val="ppt_y"/>
                                          </p:val>
                                        </p:tav>
                                        <p:tav tm="100000">
                                          <p:val>
                                            <p:strVal val="ppt_y"/>
                                          </p:val>
                                        </p:tav>
                                      </p:tavLst>
                                    </p:anim>
                                    <p:set>
                                      <p:cBhvr>
                                        <p:cTn id="8" dur="1" fill="hold">
                                          <p:stCondLst>
                                            <p:cond delay="799"/>
                                          </p:stCondLst>
                                        </p:cTn>
                                        <p:tgtEl>
                                          <p:spTgt spid="6"/>
                                        </p:tgtEl>
                                        <p:attrNameLst>
                                          <p:attrName>style.visibility</p:attrName>
                                        </p:attrNameLst>
                                      </p:cBhvr>
                                      <p:to>
                                        <p:strVal val="hidden"/>
                                      </p:to>
                                    </p:set>
                                  </p:childTnLst>
                                </p:cTn>
                              </p:par>
                            </p:childTnLst>
                          </p:cTn>
                        </p:par>
                      </p:childTnLst>
                    </p:cTn>
                  </p:par>
                </p:childTnLst>
              </p:cTn>
              <p:nextCondLst>
                <p:cond evt="onClick" delay="0">
                  <p:tgtEl>
                    <p:spTgt spid="6"/>
                  </p:tgtEl>
                </p:cond>
              </p:nextCondLst>
            </p:seq>
            <p:seq concurrent="1" nextAc="seek">
              <p:cTn id="9" restart="whenNotActive" fill="hold" evtFilter="cancelBubble" nodeType="interactiveSeq">
                <p:stCondLst>
                  <p:cond evt="onClick" delay="0">
                    <p:tgtEl>
                      <p:spTgt spid="7"/>
                    </p:tgtEl>
                  </p:cond>
                </p:stCondLst>
                <p:endSync evt="end" delay="0">
                  <p:rtn val="all"/>
                </p:endSync>
                <p:childTnLst>
                  <p:par>
                    <p:cTn id="10" fill="hold">
                      <p:stCondLst>
                        <p:cond delay="0"/>
                      </p:stCondLst>
                      <p:childTnLst>
                        <p:par>
                          <p:cTn id="11" fill="hold">
                            <p:stCondLst>
                              <p:cond delay="0"/>
                            </p:stCondLst>
                            <p:childTnLst>
                              <p:par>
                                <p:cTn id="12" presetID="2" presetClass="exit" presetSubtype="2" fill="hold" grpId="0" nodeType="clickEffect">
                                  <p:stCondLst>
                                    <p:cond delay="0"/>
                                  </p:stCondLst>
                                  <p:childTnLst>
                                    <p:anim calcmode="lin" valueType="num">
                                      <p:cBhvr additive="base">
                                        <p:cTn id="13" dur="800"/>
                                        <p:tgtEl>
                                          <p:spTgt spid="7"/>
                                        </p:tgtEl>
                                        <p:attrNameLst>
                                          <p:attrName>ppt_x</p:attrName>
                                        </p:attrNameLst>
                                      </p:cBhvr>
                                      <p:tavLst>
                                        <p:tav tm="0">
                                          <p:val>
                                            <p:strVal val="ppt_x"/>
                                          </p:val>
                                        </p:tav>
                                        <p:tav tm="100000">
                                          <p:val>
                                            <p:strVal val="1+ppt_w/2"/>
                                          </p:val>
                                        </p:tav>
                                      </p:tavLst>
                                    </p:anim>
                                    <p:anim calcmode="lin" valueType="num">
                                      <p:cBhvr additive="base">
                                        <p:cTn id="14" dur="800"/>
                                        <p:tgtEl>
                                          <p:spTgt spid="7"/>
                                        </p:tgtEl>
                                        <p:attrNameLst>
                                          <p:attrName>ppt_y</p:attrName>
                                        </p:attrNameLst>
                                      </p:cBhvr>
                                      <p:tavLst>
                                        <p:tav tm="0">
                                          <p:val>
                                            <p:strVal val="ppt_y"/>
                                          </p:val>
                                        </p:tav>
                                        <p:tav tm="100000">
                                          <p:val>
                                            <p:strVal val="ppt_y"/>
                                          </p:val>
                                        </p:tav>
                                      </p:tavLst>
                                    </p:anim>
                                    <p:set>
                                      <p:cBhvr>
                                        <p:cTn id="15" dur="1" fill="hold">
                                          <p:stCondLst>
                                            <p:cond delay="799"/>
                                          </p:stCondLst>
                                        </p:cTn>
                                        <p:tgtEl>
                                          <p:spTgt spid="7"/>
                                        </p:tgtEl>
                                        <p:attrNameLst>
                                          <p:attrName>style.visibility</p:attrName>
                                        </p:attrNameLst>
                                      </p:cBhvr>
                                      <p:to>
                                        <p:strVal val="hidden"/>
                                      </p:to>
                                    </p:set>
                                  </p:childTnLst>
                                </p:cTn>
                              </p:par>
                            </p:childTnLst>
                          </p:cTn>
                        </p:par>
                      </p:childTnLst>
                    </p:cTn>
                  </p:par>
                </p:childTnLst>
              </p:cTn>
              <p:nextCondLst>
                <p:cond evt="onClick" delay="0">
                  <p:tgtEl>
                    <p:spTgt spid="7"/>
                  </p:tgtEl>
                </p:cond>
              </p:nextCondLst>
            </p:seq>
            <p:seq concurrent="1" nextAc="seek">
              <p:cTn id="16" restart="whenNotActive" fill="hold" evtFilter="cancelBubble" nodeType="interactiveSeq">
                <p:stCondLst>
                  <p:cond evt="onClick" delay="0">
                    <p:tgtEl>
                      <p:spTgt spid="8"/>
                    </p:tgtEl>
                  </p:cond>
                </p:stCondLst>
                <p:endSync evt="end" delay="0">
                  <p:rtn val="all"/>
                </p:endSync>
                <p:childTnLst>
                  <p:par>
                    <p:cTn id="17" fill="hold">
                      <p:stCondLst>
                        <p:cond delay="0"/>
                      </p:stCondLst>
                      <p:childTnLst>
                        <p:par>
                          <p:cTn id="18" fill="hold">
                            <p:stCondLst>
                              <p:cond delay="0"/>
                            </p:stCondLst>
                            <p:childTnLst>
                              <p:par>
                                <p:cTn id="19" presetID="2" presetClass="exit" presetSubtype="2" fill="hold" grpId="0" nodeType="clickEffect">
                                  <p:stCondLst>
                                    <p:cond delay="0"/>
                                  </p:stCondLst>
                                  <p:childTnLst>
                                    <p:anim calcmode="lin" valueType="num">
                                      <p:cBhvr additive="base">
                                        <p:cTn id="20" dur="800"/>
                                        <p:tgtEl>
                                          <p:spTgt spid="8"/>
                                        </p:tgtEl>
                                        <p:attrNameLst>
                                          <p:attrName>ppt_x</p:attrName>
                                        </p:attrNameLst>
                                      </p:cBhvr>
                                      <p:tavLst>
                                        <p:tav tm="0">
                                          <p:val>
                                            <p:strVal val="ppt_x"/>
                                          </p:val>
                                        </p:tav>
                                        <p:tav tm="100000">
                                          <p:val>
                                            <p:strVal val="1+ppt_w/2"/>
                                          </p:val>
                                        </p:tav>
                                      </p:tavLst>
                                    </p:anim>
                                    <p:anim calcmode="lin" valueType="num">
                                      <p:cBhvr additive="base">
                                        <p:cTn id="21" dur="800"/>
                                        <p:tgtEl>
                                          <p:spTgt spid="8"/>
                                        </p:tgtEl>
                                        <p:attrNameLst>
                                          <p:attrName>ppt_y</p:attrName>
                                        </p:attrNameLst>
                                      </p:cBhvr>
                                      <p:tavLst>
                                        <p:tav tm="0">
                                          <p:val>
                                            <p:strVal val="ppt_y"/>
                                          </p:val>
                                        </p:tav>
                                        <p:tav tm="100000">
                                          <p:val>
                                            <p:strVal val="ppt_y"/>
                                          </p:val>
                                        </p:tav>
                                      </p:tavLst>
                                    </p:anim>
                                    <p:set>
                                      <p:cBhvr>
                                        <p:cTn id="22" dur="1" fill="hold">
                                          <p:stCondLst>
                                            <p:cond delay="799"/>
                                          </p:stCondLst>
                                        </p:cTn>
                                        <p:tgtEl>
                                          <p:spTgt spid="8"/>
                                        </p:tgtEl>
                                        <p:attrNameLst>
                                          <p:attrName>style.visibility</p:attrName>
                                        </p:attrNameLst>
                                      </p:cBhvr>
                                      <p:to>
                                        <p:strVal val="hidden"/>
                                      </p:to>
                                    </p:set>
                                  </p:childTnLst>
                                </p:cTn>
                              </p:par>
                            </p:childTnLst>
                          </p:cTn>
                        </p:par>
                      </p:childTnLst>
                    </p:cTn>
                  </p:par>
                </p:childTnLst>
              </p:cTn>
              <p:nextCondLst>
                <p:cond evt="onClick" delay="0">
                  <p:tgtEl>
                    <p:spTgt spid="8"/>
                  </p:tgtEl>
                </p:cond>
              </p:nextCondLst>
            </p:seq>
          </p:childTnLst>
        </p:cTn>
      </p:par>
    </p:tnLst>
    <p:bldLst>
      <p:bldP spid="6" grpId="0" animBg="1"/>
      <p:bldP spid="7" grpId="0" animBg="1"/>
      <p:bldP spid="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C6456D8-6FDC-B9B2-B243-8DD25BC85A92}"/>
              </a:ext>
            </a:extLst>
          </p:cNvPr>
          <p:cNvSpPr txBox="1"/>
          <p:nvPr/>
        </p:nvSpPr>
        <p:spPr>
          <a:xfrm>
            <a:off x="711200" y="355600"/>
            <a:ext cx="10414000" cy="369332"/>
          </a:xfrm>
          <a:prstGeom prst="rect">
            <a:avLst/>
          </a:prstGeom>
          <a:noFill/>
        </p:spPr>
        <p:txBody>
          <a:bodyPr vert="horz" wrap="square" lIns="0" tIns="0" rIns="0" bIns="0" rtlCol="0">
            <a:noAutofit/>
          </a:bodyPr>
          <a:lstStyle/>
          <a:p>
            <a:pPr>
              <a:lnSpc>
                <a:spcPct val="150000"/>
              </a:lnSpc>
            </a:pPr>
            <a:r>
              <a:rPr lang="en-US" sz="3200" b="1">
                <a:solidFill>
                  <a:srgbClr val="3B3B3B"/>
                </a:solidFill>
                <a:latin typeface="Open Sauce One" pitchFamily="2" charset="0"/>
              </a:rPr>
              <a:t>What we need them to do</a:t>
            </a:r>
          </a:p>
        </p:txBody>
      </p:sp>
      <p:sp>
        <p:nvSpPr>
          <p:cNvPr id="3" name="TextBox 2">
            <a:extLst>
              <a:ext uri="{FF2B5EF4-FFF2-40B4-BE49-F238E27FC236}">
                <a16:creationId xmlns:a16="http://schemas.microsoft.com/office/drawing/2014/main" id="{F3F53062-3E7B-88F9-36D6-4E901C2B1102}"/>
              </a:ext>
            </a:extLst>
          </p:cNvPr>
          <p:cNvSpPr txBox="1"/>
          <p:nvPr/>
        </p:nvSpPr>
        <p:spPr>
          <a:xfrm>
            <a:off x="711200" y="1016000"/>
            <a:ext cx="8890000" cy="369332"/>
          </a:xfrm>
          <a:prstGeom prst="rect">
            <a:avLst/>
          </a:prstGeom>
          <a:noFill/>
        </p:spPr>
        <p:txBody>
          <a:bodyPr vert="horz" wrap="square" lIns="0" tIns="0" rIns="0" bIns="0" rtlCol="0">
            <a:noAutofit/>
          </a:bodyPr>
          <a:lstStyle/>
          <a:p>
            <a:pPr>
              <a:lnSpc>
                <a:spcPct val="150000"/>
              </a:lnSpc>
            </a:pPr>
            <a:r>
              <a:rPr lang="en-US" sz="1400">
                <a:solidFill>
                  <a:srgbClr val="3B3B3B"/>
                </a:solidFill>
                <a:latin typeface="Open Sauce One" pitchFamily="2" charset="0"/>
              </a:rPr>
              <a:t>Click to reveal each step.</a:t>
            </a:r>
          </a:p>
        </p:txBody>
      </p:sp>
      <p:sp>
        <p:nvSpPr>
          <p:cNvPr id="4" name="Rectangle 3">
            <a:extLst>
              <a:ext uri="{FF2B5EF4-FFF2-40B4-BE49-F238E27FC236}">
                <a16:creationId xmlns:a16="http://schemas.microsoft.com/office/drawing/2014/main" id="{A0175520-D4B0-4FB0-26A9-716E5369A79B}"/>
              </a:ext>
            </a:extLst>
          </p:cNvPr>
          <p:cNvSpPr/>
          <p:nvPr/>
        </p:nvSpPr>
        <p:spPr>
          <a:xfrm>
            <a:off x="711200" y="1524000"/>
            <a:ext cx="3429000" cy="3175000"/>
          </a:xfrm>
          <a:prstGeom prst="rect">
            <a:avLst/>
          </a:prstGeom>
          <a:solidFill>
            <a:srgbClr val="E6E6E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t"/>
          <a:lstStyle/>
          <a:p>
            <a:pPr algn="ctr">
              <a:lnSpc>
                <a:spcPct val="150000"/>
              </a:lnSpc>
              <a:spcAft>
                <a:spcPct val="100000"/>
              </a:spcAft>
            </a:pPr>
            <a:r>
              <a:rPr lang="en-US" sz="2400">
                <a:solidFill>
                  <a:srgbClr val="3B3B3B"/>
                </a:solidFill>
                <a:latin typeface="League Gothic" pitchFamily="2" charset="0"/>
              </a:rPr>
              <a:t>01</a:t>
            </a:r>
          </a:p>
          <a:p>
            <a:pPr algn="ctr">
              <a:lnSpc>
                <a:spcPct val="150000"/>
              </a:lnSpc>
            </a:pPr>
            <a:r>
              <a:rPr lang="en-US">
                <a:solidFill>
                  <a:srgbClr val="3B3B3B"/>
                </a:solidFill>
                <a:latin typeface="Open Sauce One" pitchFamily="2" charset="0"/>
              </a:rPr>
              <a:t>Name the kind of data.</a:t>
            </a:r>
          </a:p>
        </p:txBody>
      </p:sp>
      <p:sp useBgFill="1">
        <p:nvSpPr>
          <p:cNvPr id="5" name="Rectangle 4">
            <a:extLst>
              <a:ext uri="{FF2B5EF4-FFF2-40B4-BE49-F238E27FC236}">
                <a16:creationId xmlns:a16="http://schemas.microsoft.com/office/drawing/2014/main" id="{A53B08DC-6115-7ABA-73A5-93C0D7A90735}"/>
              </a:ext>
            </a:extLst>
          </p:cNvPr>
          <p:cNvSpPr/>
          <p:nvPr/>
        </p:nvSpPr>
        <p:spPr bwMode="white">
          <a:xfrm>
            <a:off x="711200" y="1524000"/>
            <a:ext cx="3429000" cy="3175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B0B03B93-0F1F-70CB-8D52-E4CF79CF29DC}"/>
              </a:ext>
            </a:extLst>
          </p:cNvPr>
          <p:cNvSpPr/>
          <p:nvPr/>
        </p:nvSpPr>
        <p:spPr>
          <a:xfrm>
            <a:off x="4394200" y="1524000"/>
            <a:ext cx="3429000" cy="3175000"/>
          </a:xfrm>
          <a:prstGeom prst="rect">
            <a:avLst/>
          </a:prstGeom>
          <a:solidFill>
            <a:srgbClr val="E6E6E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t"/>
          <a:lstStyle/>
          <a:p>
            <a:pPr algn="ctr">
              <a:lnSpc>
                <a:spcPct val="150000"/>
              </a:lnSpc>
              <a:spcAft>
                <a:spcPct val="100000"/>
              </a:spcAft>
            </a:pPr>
            <a:r>
              <a:rPr lang="en-US" sz="2400">
                <a:solidFill>
                  <a:srgbClr val="3B3B3B"/>
                </a:solidFill>
                <a:latin typeface="League Gothic" pitchFamily="2" charset="0"/>
              </a:rPr>
              <a:t>02</a:t>
            </a:r>
          </a:p>
          <a:p>
            <a:pPr algn="ctr">
              <a:lnSpc>
                <a:spcPct val="150000"/>
              </a:lnSpc>
            </a:pPr>
            <a:r>
              <a:rPr lang="en-US">
                <a:solidFill>
                  <a:srgbClr val="3B3B3B"/>
                </a:solidFill>
                <a:latin typeface="Open Sauce One" pitchFamily="2" charset="0"/>
              </a:rPr>
              <a:t>Approved tool, stripped example, or no AI.</a:t>
            </a:r>
          </a:p>
        </p:txBody>
      </p:sp>
      <p:sp useBgFill="1">
        <p:nvSpPr>
          <p:cNvPr id="7" name="Rectangle 6">
            <a:extLst>
              <a:ext uri="{FF2B5EF4-FFF2-40B4-BE49-F238E27FC236}">
                <a16:creationId xmlns:a16="http://schemas.microsoft.com/office/drawing/2014/main" id="{C9C0622B-B104-8468-9BC2-8E75744FF606}"/>
              </a:ext>
            </a:extLst>
          </p:cNvPr>
          <p:cNvSpPr/>
          <p:nvPr/>
        </p:nvSpPr>
        <p:spPr bwMode="white">
          <a:xfrm>
            <a:off x="4394200" y="1524000"/>
            <a:ext cx="3429000" cy="3175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975D115A-6980-502C-043A-13907F192253}"/>
              </a:ext>
            </a:extLst>
          </p:cNvPr>
          <p:cNvSpPr/>
          <p:nvPr/>
        </p:nvSpPr>
        <p:spPr>
          <a:xfrm>
            <a:off x="8077200" y="1524000"/>
            <a:ext cx="3429000" cy="3175000"/>
          </a:xfrm>
          <a:prstGeom prst="rect">
            <a:avLst/>
          </a:prstGeom>
          <a:solidFill>
            <a:srgbClr val="E6E6E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t"/>
          <a:lstStyle/>
          <a:p>
            <a:pPr algn="ctr">
              <a:lnSpc>
                <a:spcPct val="150000"/>
              </a:lnSpc>
              <a:spcAft>
                <a:spcPct val="100000"/>
              </a:spcAft>
            </a:pPr>
            <a:r>
              <a:rPr lang="en-US" sz="2400">
                <a:solidFill>
                  <a:srgbClr val="3B3B3B"/>
                </a:solidFill>
                <a:latin typeface="League Gothic" pitchFamily="2" charset="0"/>
              </a:rPr>
              <a:t>03</a:t>
            </a:r>
          </a:p>
          <a:p>
            <a:pPr algn="ctr">
              <a:lnSpc>
                <a:spcPct val="150000"/>
              </a:lnSpc>
            </a:pPr>
            <a:r>
              <a:rPr lang="en-US">
                <a:solidFill>
                  <a:srgbClr val="3B3B3B"/>
                </a:solidFill>
                <a:latin typeface="Open Sauce One" pitchFamily="2" charset="0"/>
              </a:rPr>
              <a:t>Ask if unsure.</a:t>
            </a:r>
          </a:p>
        </p:txBody>
      </p:sp>
      <p:sp useBgFill="1">
        <p:nvSpPr>
          <p:cNvPr id="9" name="Rectangle 8">
            <a:extLst>
              <a:ext uri="{FF2B5EF4-FFF2-40B4-BE49-F238E27FC236}">
                <a16:creationId xmlns:a16="http://schemas.microsoft.com/office/drawing/2014/main" id="{4F2A2FF7-D67E-D061-F517-E276933FB3AB}"/>
              </a:ext>
            </a:extLst>
          </p:cNvPr>
          <p:cNvSpPr/>
          <p:nvPr/>
        </p:nvSpPr>
        <p:spPr bwMode="white">
          <a:xfrm>
            <a:off x="8077200" y="1524000"/>
            <a:ext cx="3429000" cy="3175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6FC1B125-E889-991C-AE94-09B7E2A78422}"/>
              </a:ext>
            </a:extLst>
          </p:cNvPr>
          <p:cNvSpPr txBox="1"/>
          <p:nvPr/>
        </p:nvSpPr>
        <p:spPr>
          <a:xfrm>
            <a:off x="711200" y="5080000"/>
            <a:ext cx="10769600" cy="369332"/>
          </a:xfrm>
          <a:prstGeom prst="rect">
            <a:avLst/>
          </a:prstGeom>
          <a:noFill/>
        </p:spPr>
        <p:txBody>
          <a:bodyPr vert="horz" wrap="square" lIns="0" tIns="0" rIns="0" bIns="0" rtlCol="0">
            <a:noAutofit/>
          </a:bodyPr>
          <a:lstStyle/>
          <a:p>
            <a:pPr>
              <a:lnSpc>
                <a:spcPct val="150000"/>
              </a:lnSpc>
            </a:pPr>
            <a:r>
              <a:rPr lang="en-US" sz="1600">
                <a:solidFill>
                  <a:srgbClr val="3B3B3B"/>
                </a:solidFill>
                <a:latin typeface="Open Sauce One" pitchFamily="2" charset="0"/>
              </a:rPr>
              <a:t>Count fewer unapproved AI pastes and fewer personal-drive shares. We will not invent a percentage.</a:t>
            </a:r>
          </a:p>
        </p:txBody>
      </p:sp>
      <p:sp useBgFill="1">
        <p:nvSpPr>
          <p:cNvPr id="11" name="Rectangle 10">
            <a:extLst>
              <a:ext uri="{FF2B5EF4-FFF2-40B4-BE49-F238E27FC236}">
                <a16:creationId xmlns:a16="http://schemas.microsoft.com/office/drawing/2014/main" id="{B650F31E-1945-8E32-1D1C-86F25CC0B1BB}"/>
              </a:ext>
            </a:extLst>
          </p:cNvPr>
          <p:cNvSpPr/>
          <p:nvPr/>
        </p:nvSpPr>
        <p:spPr bwMode="white">
          <a:xfrm>
            <a:off x="11493500" y="0"/>
            <a:ext cx="6985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034310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3" presetClass="path" presetSubtype="0" fill="hold" grpId="0" nodeType="clickEffect">
                                  <p:stCondLst>
                                    <p:cond delay="0"/>
                                  </p:stCondLst>
                                  <p:childTnLst>
                                    <p:animMotion origin="layout" path="M 0 0 L 0.28125 0 E" pathEditMode="relative" ptsTypes="">
                                      <p:cBhvr>
                                        <p:cTn id="6" dur="800" fill="hold"/>
                                        <p:tgtEl>
                                          <p:spTgt spid="5"/>
                                        </p:tgtEl>
                                        <p:attrNameLst>
                                          <p:attrName>ppt_x</p:attrName>
                                          <p:attrName>ppt_y</p:attrName>
                                        </p:attrNameLst>
                                      </p:cBhvr>
                                    </p:animMotion>
                                  </p:childTnLst>
                                </p:cTn>
                              </p:par>
                            </p:childTnLst>
                          </p:cTn>
                        </p:par>
                      </p:childTnLst>
                    </p:cTn>
                  </p:par>
                  <p:par>
                    <p:cTn id="7" fill="hold">
                      <p:stCondLst>
                        <p:cond delay="indefinite"/>
                      </p:stCondLst>
                      <p:childTnLst>
                        <p:par>
                          <p:cTn id="8" fill="hold">
                            <p:stCondLst>
                              <p:cond delay="0"/>
                            </p:stCondLst>
                            <p:childTnLst>
                              <p:par>
                                <p:cTn id="9" presetID="63" presetClass="path" presetSubtype="0" fill="hold" grpId="0" nodeType="clickEffect">
                                  <p:stCondLst>
                                    <p:cond delay="0"/>
                                  </p:stCondLst>
                                  <p:childTnLst>
                                    <p:animMotion origin="layout" path="M 0 0 L 0.28125 0 E" pathEditMode="relative" ptsTypes="">
                                      <p:cBhvr>
                                        <p:cTn id="10" dur="800" fill="hold"/>
                                        <p:tgtEl>
                                          <p:spTgt spid="7"/>
                                        </p:tgtEl>
                                        <p:attrNameLst>
                                          <p:attrName>ppt_x</p:attrName>
                                          <p:attrName>ppt_y</p:attrName>
                                        </p:attrNameLst>
                                      </p:cBhvr>
                                    </p:animMotion>
                                  </p:childTnLst>
                                </p:cTn>
                              </p:par>
                            </p:childTnLst>
                          </p:cTn>
                        </p:par>
                      </p:childTnLst>
                    </p:cTn>
                  </p:par>
                  <p:par>
                    <p:cTn id="11" fill="hold">
                      <p:stCondLst>
                        <p:cond delay="indefinite"/>
                      </p:stCondLst>
                      <p:childTnLst>
                        <p:par>
                          <p:cTn id="12" fill="hold">
                            <p:stCondLst>
                              <p:cond delay="0"/>
                            </p:stCondLst>
                            <p:childTnLst>
                              <p:par>
                                <p:cTn id="13" presetID="63" presetClass="path" presetSubtype="0" fill="hold" grpId="0" nodeType="clickEffect">
                                  <p:stCondLst>
                                    <p:cond delay="0"/>
                                  </p:stCondLst>
                                  <p:childTnLst>
                                    <p:animMotion origin="layout" path="M 0 0 L 0.28125 0 E" pathEditMode="relative" ptsTypes="">
                                      <p:cBhvr>
                                        <p:cTn id="14" dur="800" fill="hold"/>
                                        <p:tgtEl>
                                          <p:spTgt spid="9"/>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D985860-76BE-44B4-942E-AFBF920CDDD1}"/>
              </a:ext>
            </a:extLst>
          </p:cNvPr>
          <p:cNvSpPr txBox="1"/>
          <p:nvPr/>
        </p:nvSpPr>
        <p:spPr>
          <a:xfrm>
            <a:off x="711200" y="304800"/>
            <a:ext cx="10769600" cy="369332"/>
          </a:xfrm>
          <a:prstGeom prst="rect">
            <a:avLst/>
          </a:prstGeom>
          <a:noFill/>
        </p:spPr>
        <p:txBody>
          <a:bodyPr vert="horz" wrap="square" lIns="0" tIns="0" rIns="0" bIns="0" rtlCol="0">
            <a:noAutofit/>
          </a:bodyPr>
          <a:lstStyle/>
          <a:p>
            <a:pPr>
              <a:lnSpc>
                <a:spcPct val="150000"/>
              </a:lnSpc>
            </a:pPr>
            <a:r>
              <a:rPr lang="en-US" sz="2800" b="1">
                <a:solidFill>
                  <a:srgbClr val="3B3B3B"/>
                </a:solidFill>
                <a:latin typeface="Open Sauce One" pitchFamily="2" charset="0"/>
              </a:rPr>
              <a:t>Why not just send the policy PDF</a:t>
            </a:r>
          </a:p>
        </p:txBody>
      </p:sp>
      <p:sp>
        <p:nvSpPr>
          <p:cNvPr id="3" name="Rectangle 2">
            <a:extLst>
              <a:ext uri="{FF2B5EF4-FFF2-40B4-BE49-F238E27FC236}">
                <a16:creationId xmlns:a16="http://schemas.microsoft.com/office/drawing/2014/main" id="{BC4A3118-7D00-EFA0-9C39-FF2D1E6B7617}"/>
              </a:ext>
            </a:extLst>
          </p:cNvPr>
          <p:cNvSpPr/>
          <p:nvPr/>
        </p:nvSpPr>
        <p:spPr>
          <a:xfrm>
            <a:off x="711200" y="1117600"/>
            <a:ext cx="5207000" cy="4953000"/>
          </a:xfrm>
          <a:prstGeom prst="rect">
            <a:avLst/>
          </a:prstGeom>
          <a:solidFill>
            <a:srgbClr val="E8DED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t"/>
          <a:lstStyle/>
          <a:p>
            <a:pPr algn="ctr">
              <a:lnSpc>
                <a:spcPct val="150000"/>
              </a:lnSpc>
              <a:spcAft>
                <a:spcPct val="100000"/>
              </a:spcAft>
            </a:pPr>
            <a:r>
              <a:rPr lang="en-US" sz="2400">
                <a:solidFill>
                  <a:srgbClr val="3B3B3B"/>
                </a:solidFill>
                <a:latin typeface="League Gothic" pitchFamily="2" charset="0"/>
              </a:rPr>
              <a:t>Instead of</a:t>
            </a:r>
          </a:p>
          <a:p>
            <a:pPr algn="ctr">
              <a:lnSpc>
                <a:spcPct val="150000"/>
              </a:lnSpc>
            </a:pPr>
            <a:r>
              <a:rPr lang="en-US">
                <a:solidFill>
                  <a:srgbClr val="3B3B3B"/>
                </a:solidFill>
                <a:latin typeface="League Gothic" pitchFamily="2" charset="0"/>
              </a:rPr>
              <a:t>A 40-page acceptable-use policy</a:t>
            </a:r>
          </a:p>
          <a:p>
            <a:pPr algn="ctr">
              <a:lnSpc>
                <a:spcPct val="150000"/>
              </a:lnSpc>
            </a:pPr>
            <a:r>
              <a:rPr lang="en-US">
                <a:solidFill>
                  <a:srgbClr val="3B3B3B"/>
                </a:solidFill>
                <a:latin typeface="League Gothic" pitchFamily="2" charset="0"/>
              </a:rPr>
              <a:t>A 45-minute intro to AI</a:t>
            </a:r>
          </a:p>
          <a:p>
            <a:pPr algn="ctr">
              <a:lnSpc>
                <a:spcPct val="150000"/>
              </a:lnSpc>
            </a:pPr>
            <a:r>
              <a:rPr lang="en-US">
                <a:solidFill>
                  <a:srgbClr val="3B3B3B"/>
                </a:solidFill>
                <a:latin typeface="League Gothic" pitchFamily="2" charset="0"/>
              </a:rPr>
              <a:t>A manual for every AI product</a:t>
            </a:r>
          </a:p>
        </p:txBody>
      </p:sp>
      <p:sp>
        <p:nvSpPr>
          <p:cNvPr id="4" name="Rectangle 3">
            <a:extLst>
              <a:ext uri="{FF2B5EF4-FFF2-40B4-BE49-F238E27FC236}">
                <a16:creationId xmlns:a16="http://schemas.microsoft.com/office/drawing/2014/main" id="{2BFC08BA-5C3C-E470-17CF-3E4FAC2E028B}"/>
              </a:ext>
            </a:extLst>
          </p:cNvPr>
          <p:cNvSpPr/>
          <p:nvPr/>
        </p:nvSpPr>
        <p:spPr>
          <a:xfrm>
            <a:off x="6273800" y="1117600"/>
            <a:ext cx="5207000" cy="4953000"/>
          </a:xfrm>
          <a:prstGeom prst="rect">
            <a:avLst/>
          </a:prstGeom>
          <a:solidFill>
            <a:srgbClr val="DBE0D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t"/>
          <a:lstStyle/>
          <a:p>
            <a:pPr algn="ctr">
              <a:lnSpc>
                <a:spcPct val="150000"/>
              </a:lnSpc>
              <a:spcAft>
                <a:spcPct val="100000"/>
              </a:spcAft>
            </a:pPr>
            <a:r>
              <a:rPr lang="en-US" sz="2400">
                <a:solidFill>
                  <a:srgbClr val="3B3B3B"/>
                </a:solidFill>
                <a:latin typeface="League Gothic" pitchFamily="2" charset="0"/>
              </a:rPr>
              <a:t>We ship</a:t>
            </a:r>
          </a:p>
          <a:p>
            <a:pPr algn="ctr">
              <a:lnSpc>
                <a:spcPct val="150000"/>
              </a:lnSpc>
            </a:pPr>
            <a:r>
              <a:rPr lang="en-US">
                <a:solidFill>
                  <a:srgbClr val="3B3B3B"/>
                </a:solidFill>
                <a:latin typeface="League Gothic" pitchFamily="2" charset="0"/>
              </a:rPr>
              <a:t>One page at the desk</a:t>
            </a:r>
          </a:p>
          <a:p>
            <a:pPr algn="ctr">
              <a:lnSpc>
                <a:spcPct val="150000"/>
              </a:lnSpc>
            </a:pPr>
            <a:r>
              <a:rPr lang="en-US">
                <a:solidFill>
                  <a:srgbClr val="3B3B3B"/>
                </a:solidFill>
                <a:latin typeface="Open Sauce One" pitchFamily="2" charset="0"/>
              </a:rPr>
              <a:t>A 10 to 15 minute module: name the data, then take a path</a:t>
            </a:r>
          </a:p>
          <a:p>
            <a:pPr algn="ctr">
              <a:lnSpc>
                <a:spcPct val="150000"/>
              </a:lnSpc>
            </a:pPr>
            <a:r>
              <a:rPr lang="en-US">
                <a:solidFill>
                  <a:srgbClr val="3B3B3B"/>
                </a:solidFill>
                <a:latin typeface="Open Sauce One" pitchFamily="2" charset="0"/>
              </a:rPr>
              <a:t>Three checks that still work when the tools change</a:t>
            </a:r>
          </a:p>
        </p:txBody>
      </p:sp>
    </p:spTree>
    <p:extLst>
      <p:ext uri="{BB962C8B-B14F-4D97-AF65-F5344CB8AC3E}">
        <p14:creationId xmlns:p14="http://schemas.microsoft.com/office/powerpoint/2010/main" val="1122208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41AAEA8-BC92-C02C-6FB5-C1DEFBA2558F}"/>
              </a:ext>
            </a:extLst>
          </p:cNvPr>
          <p:cNvSpPr txBox="1"/>
          <p:nvPr/>
        </p:nvSpPr>
        <p:spPr>
          <a:xfrm>
            <a:off x="457200" y="254000"/>
            <a:ext cx="6604000" cy="369332"/>
          </a:xfrm>
          <a:prstGeom prst="rect">
            <a:avLst/>
          </a:prstGeom>
          <a:noFill/>
        </p:spPr>
        <p:txBody>
          <a:bodyPr vert="horz" wrap="square" lIns="0" tIns="0" rIns="0" bIns="0" rtlCol="0">
            <a:noAutofit/>
          </a:bodyPr>
          <a:lstStyle/>
          <a:p>
            <a:pPr>
              <a:lnSpc>
                <a:spcPct val="150000"/>
              </a:lnSpc>
            </a:pPr>
            <a:r>
              <a:rPr lang="en-US" sz="2800" b="1">
                <a:solidFill>
                  <a:srgbClr val="3B3B3B"/>
                </a:solidFill>
                <a:latin typeface="Open Sauce One" pitchFamily="2" charset="0"/>
              </a:rPr>
              <a:t>What the worker sees</a:t>
            </a:r>
          </a:p>
        </p:txBody>
      </p:sp>
      <p:pic>
        <p:nvPicPr>
          <p:cNvPr id="4" name="Picture 3">
            <a:extLst>
              <a:ext uri="{FF2B5EF4-FFF2-40B4-BE49-F238E27FC236}">
                <a16:creationId xmlns:a16="http://schemas.microsoft.com/office/drawing/2014/main" id="{1EF06CF4-10FA-015D-7064-EB72029F0D6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74000" y="304800"/>
            <a:ext cx="3810000" cy="5384800"/>
          </a:xfrm>
          <a:prstGeom prst="rect">
            <a:avLst/>
          </a:prstGeom>
        </p:spPr>
      </p:pic>
      <p:sp>
        <p:nvSpPr>
          <p:cNvPr id="5" name="TextBox 4">
            <a:extLst>
              <a:ext uri="{FF2B5EF4-FFF2-40B4-BE49-F238E27FC236}">
                <a16:creationId xmlns:a16="http://schemas.microsoft.com/office/drawing/2014/main" id="{15FB6A7A-9977-D1E2-0B83-99E4B4F2E1CD}"/>
              </a:ext>
            </a:extLst>
          </p:cNvPr>
          <p:cNvSpPr txBox="1"/>
          <p:nvPr/>
        </p:nvSpPr>
        <p:spPr>
          <a:xfrm>
            <a:off x="457200" y="1016000"/>
            <a:ext cx="6350000" cy="369332"/>
          </a:xfrm>
          <a:prstGeom prst="rect">
            <a:avLst/>
          </a:prstGeom>
          <a:noFill/>
        </p:spPr>
        <p:txBody>
          <a:bodyPr vert="horz" wrap="square" lIns="0" tIns="0" rIns="0" bIns="0" rtlCol="0">
            <a:noAutofit/>
          </a:bodyPr>
          <a:lstStyle/>
          <a:p>
            <a:pPr>
              <a:lnSpc>
                <a:spcPct val="150000"/>
              </a:lnSpc>
            </a:pPr>
            <a:r>
              <a:rPr lang="en-US">
                <a:solidFill>
                  <a:srgbClr val="3B3B3B"/>
                </a:solidFill>
                <a:latin typeface="League Gothic" pitchFamily="2" charset="0"/>
              </a:rPr>
              <a:t>Three checks. Classify table. Stop rules.</a:t>
            </a:r>
          </a:p>
        </p:txBody>
      </p:sp>
      <p:sp>
        <p:nvSpPr>
          <p:cNvPr id="6" name="TextBox 5">
            <a:extLst>
              <a:ext uri="{FF2B5EF4-FFF2-40B4-BE49-F238E27FC236}">
                <a16:creationId xmlns:a16="http://schemas.microsoft.com/office/drawing/2014/main" id="{83FD3E19-7125-0D11-A089-10C480BD328E}"/>
              </a:ext>
            </a:extLst>
          </p:cNvPr>
          <p:cNvSpPr txBox="1"/>
          <p:nvPr/>
        </p:nvSpPr>
        <p:spPr>
          <a:xfrm>
            <a:off x="457200" y="2286000"/>
            <a:ext cx="6350000" cy="369332"/>
          </a:xfrm>
          <a:prstGeom prst="rect">
            <a:avLst/>
          </a:prstGeom>
          <a:noFill/>
        </p:spPr>
        <p:txBody>
          <a:bodyPr vert="horz" wrap="square" lIns="0" tIns="0" rIns="0" bIns="0" rtlCol="0">
            <a:noAutofit/>
          </a:bodyPr>
          <a:lstStyle/>
          <a:p>
            <a:pPr>
              <a:lnSpc>
                <a:spcPct val="150000"/>
              </a:lnSpc>
            </a:pPr>
            <a:r>
              <a:rPr lang="en-US" sz="2000">
                <a:solidFill>
                  <a:srgbClr val="3B3B3B"/>
                </a:solidFill>
                <a:latin typeface="Open Sauce One" pitchFamily="2" charset="0"/>
              </a:rPr>
              <a:t>This stays next to the desktop. The module is not the reminder.</a:t>
            </a:r>
          </a:p>
        </p:txBody>
      </p:sp>
    </p:spTree>
    <p:extLst>
      <p:ext uri="{BB962C8B-B14F-4D97-AF65-F5344CB8AC3E}">
        <p14:creationId xmlns:p14="http://schemas.microsoft.com/office/powerpoint/2010/main" val="21572587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D187049-1EB5-9EA0-0DC9-B4101E68CB62}"/>
              </a:ext>
            </a:extLst>
          </p:cNvPr>
          <p:cNvSpPr txBox="1"/>
          <p:nvPr/>
        </p:nvSpPr>
        <p:spPr>
          <a:xfrm>
            <a:off x="711200" y="355600"/>
            <a:ext cx="10769600" cy="369332"/>
          </a:xfrm>
          <a:prstGeom prst="rect">
            <a:avLst/>
          </a:prstGeom>
          <a:noFill/>
        </p:spPr>
        <p:txBody>
          <a:bodyPr vert="horz" wrap="square" lIns="0" tIns="0" rIns="0" bIns="0" rtlCol="0">
            <a:noAutofit/>
          </a:bodyPr>
          <a:lstStyle/>
          <a:p>
            <a:pPr>
              <a:lnSpc>
                <a:spcPct val="150000"/>
              </a:lnSpc>
            </a:pPr>
            <a:r>
              <a:rPr lang="en-US" sz="3200" b="1">
                <a:solidFill>
                  <a:srgbClr val="3B3B3B"/>
                </a:solidFill>
                <a:latin typeface="Open Sauce One" pitchFamily="2" charset="0"/>
              </a:rPr>
              <a:t>The 15-minute module</a:t>
            </a:r>
          </a:p>
        </p:txBody>
      </p:sp>
      <p:sp>
        <p:nvSpPr>
          <p:cNvPr id="3" name="TextBox 2">
            <a:extLst>
              <a:ext uri="{FF2B5EF4-FFF2-40B4-BE49-F238E27FC236}">
                <a16:creationId xmlns:a16="http://schemas.microsoft.com/office/drawing/2014/main" id="{B4C01569-6A21-AA82-45CC-CA1C7E0D185C}"/>
              </a:ext>
            </a:extLst>
          </p:cNvPr>
          <p:cNvSpPr txBox="1"/>
          <p:nvPr/>
        </p:nvSpPr>
        <p:spPr>
          <a:xfrm>
            <a:off x="711200" y="1066800"/>
            <a:ext cx="10160000" cy="369332"/>
          </a:xfrm>
          <a:prstGeom prst="rect">
            <a:avLst/>
          </a:prstGeom>
          <a:noFill/>
        </p:spPr>
        <p:txBody>
          <a:bodyPr vert="horz" wrap="square" lIns="0" tIns="0" rIns="0" bIns="0" rtlCol="0">
            <a:noAutofit/>
          </a:bodyPr>
          <a:lstStyle/>
          <a:p>
            <a:pPr>
              <a:lnSpc>
                <a:spcPct val="150000"/>
              </a:lnSpc>
            </a:pPr>
            <a:r>
              <a:rPr lang="en-US" sz="1600">
                <a:solidFill>
                  <a:srgbClr val="3B3B3B"/>
                </a:solidFill>
                <a:latin typeface="Open Sauce One" pitchFamily="2" charset="0"/>
              </a:rPr>
              <a:t>A map only. Do not play it in this meeting.</a:t>
            </a:r>
          </a:p>
        </p:txBody>
      </p:sp>
      <p:sp>
        <p:nvSpPr>
          <p:cNvPr id="4" name="Rectangle 3">
            <a:extLst>
              <a:ext uri="{FF2B5EF4-FFF2-40B4-BE49-F238E27FC236}">
                <a16:creationId xmlns:a16="http://schemas.microsoft.com/office/drawing/2014/main" id="{BCEF1F2D-EEC3-6921-E1D6-314FF7C96908}"/>
              </a:ext>
            </a:extLst>
          </p:cNvPr>
          <p:cNvSpPr/>
          <p:nvPr/>
        </p:nvSpPr>
        <p:spPr>
          <a:xfrm>
            <a:off x="711200" y="1574800"/>
            <a:ext cx="10769600" cy="4318000"/>
          </a:xfrm>
          <a:prstGeom prst="rect">
            <a:avLst/>
          </a:prstGeom>
          <a:solidFill>
            <a:srgbClr val="E6E6E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t"/>
          <a:lstStyle/>
          <a:p>
            <a:pPr algn="ctr">
              <a:lnSpc>
                <a:spcPct val="150000"/>
              </a:lnSpc>
            </a:pPr>
            <a:r>
              <a:rPr lang="en-US">
                <a:solidFill>
                  <a:srgbClr val="3B3B3B"/>
                </a:solidFill>
                <a:latin typeface="League Gothic" pitchFamily="2" charset="0"/>
              </a:rPr>
              <a:t>Safe AI and data handling for remote enterprise teams</a:t>
            </a:r>
          </a:p>
          <a:p>
            <a:pPr algn="ctr">
              <a:lnSpc>
                <a:spcPct val="150000"/>
              </a:lnSpc>
            </a:pPr>
            <a:r>
              <a:rPr lang="en-US">
                <a:solidFill>
                  <a:srgbClr val="3B3B3B"/>
                </a:solidFill>
                <a:latin typeface="Open Sauce One" pitchFamily="2" charset="0"/>
              </a:rPr>
              <a:t>1   Welcome</a:t>
            </a:r>
          </a:p>
          <a:p>
            <a:pPr algn="ctr">
              <a:lnSpc>
                <a:spcPct val="150000"/>
              </a:lnSpc>
            </a:pPr>
            <a:r>
              <a:rPr lang="en-US">
                <a:solidFill>
                  <a:srgbClr val="3B3B3B"/>
                </a:solidFill>
                <a:latin typeface="Open Sauce One" pitchFamily="2" charset="0"/>
              </a:rPr>
              <a:t>2   Classify (a live decision)</a:t>
            </a:r>
          </a:p>
          <a:p>
            <a:pPr algn="ctr">
              <a:lnSpc>
                <a:spcPct val="150000"/>
              </a:lnSpc>
            </a:pPr>
            <a:r>
              <a:rPr lang="en-US">
                <a:solidFill>
                  <a:srgbClr val="3B3B3B"/>
                </a:solidFill>
                <a:latin typeface="Open Sauce One" pitchFamily="2" charset="0"/>
              </a:rPr>
              <a:t>3-4   Two paths: careful path, or a correction then rejoin</a:t>
            </a:r>
          </a:p>
          <a:p>
            <a:pPr algn="ctr">
              <a:lnSpc>
                <a:spcPct val="150000"/>
              </a:lnSpc>
            </a:pPr>
            <a:r>
              <a:rPr lang="en-US">
                <a:solidFill>
                  <a:srgbClr val="3B3B3B"/>
                </a:solidFill>
                <a:latin typeface="Open Sauce One" pitchFamily="2" charset="0"/>
              </a:rPr>
              <a:t>5   Three checks, everyone together again</a:t>
            </a:r>
          </a:p>
          <a:p>
            <a:pPr algn="ctr">
              <a:lnSpc>
                <a:spcPct val="150000"/>
              </a:lnSpc>
            </a:pPr>
            <a:r>
              <a:rPr lang="en-US">
                <a:solidFill>
                  <a:srgbClr val="3B3B3B"/>
                </a:solidFill>
                <a:latin typeface="Open Sauce One" pitchFamily="2" charset="0"/>
              </a:rPr>
              <a:t>6   One marked scenario</a:t>
            </a:r>
          </a:p>
          <a:p>
            <a:pPr algn="ctr">
              <a:lnSpc>
                <a:spcPct val="150000"/>
              </a:lnSpc>
            </a:pPr>
            <a:r>
              <a:rPr lang="en-US">
                <a:solidFill>
                  <a:srgbClr val="3B3B3B"/>
                </a:solidFill>
                <a:latin typeface="Open Sauce One" pitchFamily="2" charset="0"/>
              </a:rPr>
              <a:t>7   Point to the cheat sheet and finish</a:t>
            </a:r>
          </a:p>
        </p:txBody>
      </p:sp>
    </p:spTree>
    <p:extLst>
      <p:ext uri="{BB962C8B-B14F-4D97-AF65-F5344CB8AC3E}">
        <p14:creationId xmlns:p14="http://schemas.microsoft.com/office/powerpoint/2010/main" val="13078948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BAA1FD1-F94E-D4AD-7433-ECFF6E18608C}"/>
              </a:ext>
            </a:extLst>
          </p:cNvPr>
          <p:cNvSpPr txBox="1"/>
          <p:nvPr/>
        </p:nvSpPr>
        <p:spPr>
          <a:xfrm>
            <a:off x="711200" y="355600"/>
            <a:ext cx="10769600" cy="369332"/>
          </a:xfrm>
          <a:prstGeom prst="rect">
            <a:avLst/>
          </a:prstGeom>
          <a:noFill/>
        </p:spPr>
        <p:txBody>
          <a:bodyPr vert="horz" wrap="square" lIns="0" tIns="0" rIns="0" bIns="0" rtlCol="0">
            <a:noAutofit/>
          </a:bodyPr>
          <a:lstStyle/>
          <a:p>
            <a:pPr>
              <a:lnSpc>
                <a:spcPct val="150000"/>
              </a:lnSpc>
            </a:pPr>
            <a:r>
              <a:rPr lang="en-US" sz="3200" b="1">
                <a:solidFill>
                  <a:srgbClr val="3B3B3B"/>
                </a:solidFill>
                <a:latin typeface="Open Sauce One" pitchFamily="2" charset="0"/>
              </a:rPr>
              <a:t>What you need them to decide</a:t>
            </a:r>
          </a:p>
        </p:txBody>
      </p:sp>
      <p:sp>
        <p:nvSpPr>
          <p:cNvPr id="3" name="Rectangle 2">
            <a:extLst>
              <a:ext uri="{FF2B5EF4-FFF2-40B4-BE49-F238E27FC236}">
                <a16:creationId xmlns:a16="http://schemas.microsoft.com/office/drawing/2014/main" id="{5C45A15F-506F-7E2B-E7DC-AC87FA93C055}"/>
              </a:ext>
            </a:extLst>
          </p:cNvPr>
          <p:cNvSpPr/>
          <p:nvPr/>
        </p:nvSpPr>
        <p:spPr>
          <a:xfrm>
            <a:off x="711200" y="1117600"/>
            <a:ext cx="10769600" cy="1524000"/>
          </a:xfrm>
          <a:prstGeom prst="rect">
            <a:avLst/>
          </a:prstGeom>
          <a:solidFill>
            <a:srgbClr val="DBE0D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ctr"/>
          <a:lstStyle/>
          <a:p>
            <a:pPr algn="ctr">
              <a:lnSpc>
                <a:spcPct val="150000"/>
              </a:lnSpc>
              <a:spcAft>
                <a:spcPct val="100000"/>
              </a:spcAft>
            </a:pPr>
            <a:r>
              <a:rPr lang="en-US" sz="2400">
                <a:solidFill>
                  <a:srgbClr val="3B3B3B"/>
                </a:solidFill>
                <a:latin typeface="League Gothic" pitchFamily="2" charset="0"/>
              </a:rPr>
              <a:t>1</a:t>
            </a:r>
          </a:p>
          <a:p>
            <a:pPr algn="ctr">
              <a:lnSpc>
                <a:spcPct val="150000"/>
              </a:lnSpc>
            </a:pPr>
            <a:r>
              <a:rPr lang="en-US">
                <a:solidFill>
                  <a:srgbClr val="3B3B3B"/>
                </a:solidFill>
                <a:latin typeface="Open Sauce One" pitchFamily="2" charset="0"/>
              </a:rPr>
              <a:t>The habit. Classify, then an allowed path, then ask.</a:t>
            </a:r>
          </a:p>
        </p:txBody>
      </p:sp>
      <p:sp>
        <p:nvSpPr>
          <p:cNvPr id="4" name="Rectangle 3">
            <a:extLst>
              <a:ext uri="{FF2B5EF4-FFF2-40B4-BE49-F238E27FC236}">
                <a16:creationId xmlns:a16="http://schemas.microsoft.com/office/drawing/2014/main" id="{F64CDDEC-B00F-7271-7AE6-90DBD1E0D69E}"/>
              </a:ext>
            </a:extLst>
          </p:cNvPr>
          <p:cNvSpPr/>
          <p:nvPr/>
        </p:nvSpPr>
        <p:spPr>
          <a:xfrm>
            <a:off x="711200" y="2794000"/>
            <a:ext cx="10769600" cy="1524000"/>
          </a:xfrm>
          <a:prstGeom prst="rect">
            <a:avLst/>
          </a:prstGeom>
          <a:solidFill>
            <a:srgbClr val="E6E6E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ctr"/>
          <a:lstStyle/>
          <a:p>
            <a:pPr algn="ctr">
              <a:lnSpc>
                <a:spcPct val="150000"/>
              </a:lnSpc>
              <a:spcAft>
                <a:spcPct val="100000"/>
              </a:spcAft>
            </a:pPr>
            <a:r>
              <a:rPr lang="en-US" sz="2400">
                <a:solidFill>
                  <a:srgbClr val="3B3B3B"/>
                </a:solidFill>
                <a:latin typeface="League Gothic" pitchFamily="2" charset="0"/>
              </a:rPr>
              <a:t>2</a:t>
            </a:r>
          </a:p>
          <a:p>
            <a:pPr algn="ctr">
              <a:lnSpc>
                <a:spcPct val="150000"/>
              </a:lnSpc>
            </a:pPr>
            <a:r>
              <a:rPr lang="en-US">
                <a:solidFill>
                  <a:srgbClr val="3B3B3B"/>
                </a:solidFill>
                <a:latin typeface="Open Sauce One" pitchFamily="2" charset="0"/>
              </a:rPr>
              <a:t>The ask-if-unsure person: [TO CONFIRM: DPO / line manager / other]</a:t>
            </a:r>
          </a:p>
        </p:txBody>
      </p:sp>
      <p:sp>
        <p:nvSpPr>
          <p:cNvPr id="5" name="Rectangle 4">
            <a:extLst>
              <a:ext uri="{FF2B5EF4-FFF2-40B4-BE49-F238E27FC236}">
                <a16:creationId xmlns:a16="http://schemas.microsoft.com/office/drawing/2014/main" id="{4FCC7EE4-C849-54C2-8FFB-9AC994A84135}"/>
              </a:ext>
            </a:extLst>
          </p:cNvPr>
          <p:cNvSpPr/>
          <p:nvPr/>
        </p:nvSpPr>
        <p:spPr>
          <a:xfrm>
            <a:off x="711200" y="4470400"/>
            <a:ext cx="10769600" cy="1651000"/>
          </a:xfrm>
          <a:prstGeom prst="rect">
            <a:avLst/>
          </a:prstGeom>
          <a:solidFill>
            <a:srgbClr val="E6E6E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ctr"/>
          <a:lstStyle/>
          <a:p>
            <a:pPr algn="ctr">
              <a:lnSpc>
                <a:spcPct val="150000"/>
              </a:lnSpc>
              <a:spcAft>
                <a:spcPct val="100000"/>
              </a:spcAft>
            </a:pPr>
            <a:r>
              <a:rPr lang="en-US" sz="2400">
                <a:solidFill>
                  <a:srgbClr val="3B3B3B"/>
                </a:solidFill>
                <a:latin typeface="League Gothic" pitchFamily="2" charset="0"/>
              </a:rPr>
              <a:t>3</a:t>
            </a:r>
          </a:p>
          <a:p>
            <a:pPr algn="ctr">
              <a:lnSpc>
                <a:spcPct val="150000"/>
              </a:lnSpc>
            </a:pPr>
            <a:r>
              <a:rPr lang="en-US">
                <a:solidFill>
                  <a:srgbClr val="3B3B3B"/>
                </a:solidFill>
                <a:latin typeface="Open Sauce One" pitchFamily="2" charset="0"/>
              </a:rPr>
              <a:t>Where the page will live. Intranet, or a pinned PDF, somewhere they already look.</a:t>
            </a:r>
          </a:p>
        </p:txBody>
      </p:sp>
      <p:sp>
        <p:nvSpPr>
          <p:cNvPr id="6" name="Rectangle 5">
            <a:extLst>
              <a:ext uri="{FF2B5EF4-FFF2-40B4-BE49-F238E27FC236}">
                <a16:creationId xmlns:a16="http://schemas.microsoft.com/office/drawing/2014/main" id="{6F245685-1003-355D-19AD-EF69B66705DE}"/>
              </a:ext>
            </a:extLst>
          </p:cNvPr>
          <p:cNvSpPr/>
          <p:nvPr/>
        </p:nvSpPr>
        <p:spPr>
          <a:xfrm>
            <a:off x="711200" y="1803400"/>
            <a:ext cx="10769600" cy="838200"/>
          </a:xfrm>
          <a:prstGeom prst="rect">
            <a:avLst/>
          </a:prstGeom>
          <a:solidFill>
            <a:srgbClr val="DBE0D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50800" rIns="101600" bIns="50800" rtlCol="0" anchor="ctr"/>
          <a:lstStyle/>
          <a:p>
            <a:pPr algn="ctr"/>
            <a:r>
              <a:rPr lang="en-US">
                <a:solidFill>
                  <a:srgbClr val="3B3B3B"/>
                </a:solidFill>
                <a:latin typeface="League Gothic" pitchFamily="2" charset="0"/>
              </a:rPr>
              <a:t>Click</a:t>
            </a:r>
          </a:p>
        </p:txBody>
      </p:sp>
      <p:sp>
        <p:nvSpPr>
          <p:cNvPr id="7" name="Rectangle 6">
            <a:extLst>
              <a:ext uri="{FF2B5EF4-FFF2-40B4-BE49-F238E27FC236}">
                <a16:creationId xmlns:a16="http://schemas.microsoft.com/office/drawing/2014/main" id="{4BCB4C78-DDDE-02C1-2F43-9051932B664F}"/>
              </a:ext>
            </a:extLst>
          </p:cNvPr>
          <p:cNvSpPr/>
          <p:nvPr/>
        </p:nvSpPr>
        <p:spPr>
          <a:xfrm>
            <a:off x="711200" y="3479800"/>
            <a:ext cx="10769600" cy="838200"/>
          </a:xfrm>
          <a:prstGeom prst="rect">
            <a:avLst/>
          </a:prstGeom>
          <a:solidFill>
            <a:srgbClr val="E6E6E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50800" rIns="101600" bIns="50800" rtlCol="0" anchor="ctr"/>
          <a:lstStyle/>
          <a:p>
            <a:pPr algn="ctr"/>
            <a:r>
              <a:rPr lang="en-US">
                <a:solidFill>
                  <a:srgbClr val="3B3B3B"/>
                </a:solidFill>
                <a:latin typeface="League Gothic" pitchFamily="2" charset="0"/>
              </a:rPr>
              <a:t>Click</a:t>
            </a:r>
          </a:p>
        </p:txBody>
      </p:sp>
      <p:sp>
        <p:nvSpPr>
          <p:cNvPr id="8" name="Rectangle 7">
            <a:extLst>
              <a:ext uri="{FF2B5EF4-FFF2-40B4-BE49-F238E27FC236}">
                <a16:creationId xmlns:a16="http://schemas.microsoft.com/office/drawing/2014/main" id="{F3153459-1D80-4B0E-BF0E-796234DDB23B}"/>
              </a:ext>
            </a:extLst>
          </p:cNvPr>
          <p:cNvSpPr/>
          <p:nvPr/>
        </p:nvSpPr>
        <p:spPr>
          <a:xfrm>
            <a:off x="711200" y="5156200"/>
            <a:ext cx="10769600" cy="965200"/>
          </a:xfrm>
          <a:prstGeom prst="rect">
            <a:avLst/>
          </a:prstGeom>
          <a:solidFill>
            <a:srgbClr val="E6E6E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50800" rIns="101600" bIns="50800" rtlCol="0" anchor="ctr"/>
          <a:lstStyle/>
          <a:p>
            <a:pPr algn="ctr"/>
            <a:r>
              <a:rPr lang="en-US">
                <a:solidFill>
                  <a:srgbClr val="3B3B3B"/>
                </a:solidFill>
                <a:latin typeface="League Gothic" pitchFamily="2" charset="0"/>
              </a:rPr>
              <a:t>Click</a:t>
            </a:r>
          </a:p>
        </p:txBody>
      </p:sp>
      <p:sp>
        <p:nvSpPr>
          <p:cNvPr id="9" name="TextBox 8">
            <a:extLst>
              <a:ext uri="{FF2B5EF4-FFF2-40B4-BE49-F238E27FC236}">
                <a16:creationId xmlns:a16="http://schemas.microsoft.com/office/drawing/2014/main" id="{EA14BE28-6A42-E70F-4A89-F2B575FDD066}"/>
              </a:ext>
            </a:extLst>
          </p:cNvPr>
          <p:cNvSpPr txBox="1"/>
          <p:nvPr/>
        </p:nvSpPr>
        <p:spPr>
          <a:xfrm>
            <a:off x="711200" y="6248400"/>
            <a:ext cx="10769600" cy="369332"/>
          </a:xfrm>
          <a:prstGeom prst="rect">
            <a:avLst/>
          </a:prstGeom>
          <a:noFill/>
        </p:spPr>
        <p:txBody>
          <a:bodyPr vert="horz" wrap="square" lIns="0" tIns="0" rIns="0" bIns="0" rtlCol="0">
            <a:noAutofit/>
          </a:bodyPr>
          <a:lstStyle/>
          <a:p>
            <a:pPr>
              <a:lnSpc>
                <a:spcPct val="150000"/>
              </a:lnSpc>
            </a:pPr>
            <a:r>
              <a:rPr lang="en-US" sz="1600">
                <a:solidFill>
                  <a:srgbClr val="3B3B3B"/>
                </a:solidFill>
                <a:latin typeface="Open Sauce One" pitchFamily="2" charset="0"/>
              </a:rPr>
              <a:t>Then build the Rise module from the existing script.</a:t>
            </a:r>
          </a:p>
        </p:txBody>
      </p:sp>
      <p:sp useBgFill="1">
        <p:nvSpPr>
          <p:cNvPr id="10" name="Rectangle 9">
            <a:extLst>
              <a:ext uri="{FF2B5EF4-FFF2-40B4-BE49-F238E27FC236}">
                <a16:creationId xmlns:a16="http://schemas.microsoft.com/office/drawing/2014/main" id="{FFF91479-0FBA-51B8-F590-4FDBA173A931}"/>
              </a:ext>
            </a:extLst>
          </p:cNvPr>
          <p:cNvSpPr/>
          <p:nvPr/>
        </p:nvSpPr>
        <p:spPr bwMode="white">
          <a:xfrm>
            <a:off x="11468100" y="0"/>
            <a:ext cx="7239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69014423"/>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6"/>
                    </p:tgtEl>
                  </p:cond>
                </p:stCondLst>
                <p:endSync evt="end" delay="0">
                  <p:rtn val="all"/>
                </p:endSync>
                <p:childTnLst>
                  <p:par>
                    <p:cTn id="3" fill="hold">
                      <p:stCondLst>
                        <p:cond delay="0"/>
                      </p:stCondLst>
                      <p:childTnLst>
                        <p:par>
                          <p:cTn id="4" fill="hold">
                            <p:stCondLst>
                              <p:cond delay="0"/>
                            </p:stCondLst>
                            <p:childTnLst>
                              <p:par>
                                <p:cTn id="5" presetID="2" presetClass="exit" presetSubtype="2" fill="hold" grpId="0" nodeType="clickEffect">
                                  <p:stCondLst>
                                    <p:cond delay="0"/>
                                  </p:stCondLst>
                                  <p:childTnLst>
                                    <p:anim calcmode="lin" valueType="num">
                                      <p:cBhvr additive="base">
                                        <p:cTn id="6" dur="800"/>
                                        <p:tgtEl>
                                          <p:spTgt spid="6"/>
                                        </p:tgtEl>
                                        <p:attrNameLst>
                                          <p:attrName>ppt_x</p:attrName>
                                        </p:attrNameLst>
                                      </p:cBhvr>
                                      <p:tavLst>
                                        <p:tav tm="0">
                                          <p:val>
                                            <p:strVal val="ppt_x"/>
                                          </p:val>
                                        </p:tav>
                                        <p:tav tm="100000">
                                          <p:val>
                                            <p:strVal val="1+ppt_w/2"/>
                                          </p:val>
                                        </p:tav>
                                      </p:tavLst>
                                    </p:anim>
                                    <p:anim calcmode="lin" valueType="num">
                                      <p:cBhvr additive="base">
                                        <p:cTn id="7" dur="800"/>
                                        <p:tgtEl>
                                          <p:spTgt spid="6"/>
                                        </p:tgtEl>
                                        <p:attrNameLst>
                                          <p:attrName>ppt_y</p:attrName>
                                        </p:attrNameLst>
                                      </p:cBhvr>
                                      <p:tavLst>
                                        <p:tav tm="0">
                                          <p:val>
                                            <p:strVal val="ppt_y"/>
                                          </p:val>
                                        </p:tav>
                                        <p:tav tm="100000">
                                          <p:val>
                                            <p:strVal val="ppt_y"/>
                                          </p:val>
                                        </p:tav>
                                      </p:tavLst>
                                    </p:anim>
                                    <p:set>
                                      <p:cBhvr>
                                        <p:cTn id="8" dur="1" fill="hold">
                                          <p:stCondLst>
                                            <p:cond delay="799"/>
                                          </p:stCondLst>
                                        </p:cTn>
                                        <p:tgtEl>
                                          <p:spTgt spid="6"/>
                                        </p:tgtEl>
                                        <p:attrNameLst>
                                          <p:attrName>style.visibility</p:attrName>
                                        </p:attrNameLst>
                                      </p:cBhvr>
                                      <p:to>
                                        <p:strVal val="hidden"/>
                                      </p:to>
                                    </p:set>
                                  </p:childTnLst>
                                </p:cTn>
                              </p:par>
                            </p:childTnLst>
                          </p:cTn>
                        </p:par>
                      </p:childTnLst>
                    </p:cTn>
                  </p:par>
                </p:childTnLst>
              </p:cTn>
              <p:nextCondLst>
                <p:cond evt="onClick" delay="0">
                  <p:tgtEl>
                    <p:spTgt spid="6"/>
                  </p:tgtEl>
                </p:cond>
              </p:nextCondLst>
            </p:seq>
            <p:seq concurrent="1" nextAc="seek">
              <p:cTn id="9" restart="whenNotActive" fill="hold" evtFilter="cancelBubble" nodeType="interactiveSeq">
                <p:stCondLst>
                  <p:cond evt="onClick" delay="0">
                    <p:tgtEl>
                      <p:spTgt spid="7"/>
                    </p:tgtEl>
                  </p:cond>
                </p:stCondLst>
                <p:endSync evt="end" delay="0">
                  <p:rtn val="all"/>
                </p:endSync>
                <p:childTnLst>
                  <p:par>
                    <p:cTn id="10" fill="hold">
                      <p:stCondLst>
                        <p:cond delay="0"/>
                      </p:stCondLst>
                      <p:childTnLst>
                        <p:par>
                          <p:cTn id="11" fill="hold">
                            <p:stCondLst>
                              <p:cond delay="0"/>
                            </p:stCondLst>
                            <p:childTnLst>
                              <p:par>
                                <p:cTn id="12" presetID="2" presetClass="exit" presetSubtype="2" fill="hold" grpId="0" nodeType="clickEffect">
                                  <p:stCondLst>
                                    <p:cond delay="0"/>
                                  </p:stCondLst>
                                  <p:childTnLst>
                                    <p:anim calcmode="lin" valueType="num">
                                      <p:cBhvr additive="base">
                                        <p:cTn id="13" dur="800"/>
                                        <p:tgtEl>
                                          <p:spTgt spid="7"/>
                                        </p:tgtEl>
                                        <p:attrNameLst>
                                          <p:attrName>ppt_x</p:attrName>
                                        </p:attrNameLst>
                                      </p:cBhvr>
                                      <p:tavLst>
                                        <p:tav tm="0">
                                          <p:val>
                                            <p:strVal val="ppt_x"/>
                                          </p:val>
                                        </p:tav>
                                        <p:tav tm="100000">
                                          <p:val>
                                            <p:strVal val="1+ppt_w/2"/>
                                          </p:val>
                                        </p:tav>
                                      </p:tavLst>
                                    </p:anim>
                                    <p:anim calcmode="lin" valueType="num">
                                      <p:cBhvr additive="base">
                                        <p:cTn id="14" dur="800"/>
                                        <p:tgtEl>
                                          <p:spTgt spid="7"/>
                                        </p:tgtEl>
                                        <p:attrNameLst>
                                          <p:attrName>ppt_y</p:attrName>
                                        </p:attrNameLst>
                                      </p:cBhvr>
                                      <p:tavLst>
                                        <p:tav tm="0">
                                          <p:val>
                                            <p:strVal val="ppt_y"/>
                                          </p:val>
                                        </p:tav>
                                        <p:tav tm="100000">
                                          <p:val>
                                            <p:strVal val="ppt_y"/>
                                          </p:val>
                                        </p:tav>
                                      </p:tavLst>
                                    </p:anim>
                                    <p:set>
                                      <p:cBhvr>
                                        <p:cTn id="15" dur="1" fill="hold">
                                          <p:stCondLst>
                                            <p:cond delay="799"/>
                                          </p:stCondLst>
                                        </p:cTn>
                                        <p:tgtEl>
                                          <p:spTgt spid="7"/>
                                        </p:tgtEl>
                                        <p:attrNameLst>
                                          <p:attrName>style.visibility</p:attrName>
                                        </p:attrNameLst>
                                      </p:cBhvr>
                                      <p:to>
                                        <p:strVal val="hidden"/>
                                      </p:to>
                                    </p:set>
                                  </p:childTnLst>
                                </p:cTn>
                              </p:par>
                            </p:childTnLst>
                          </p:cTn>
                        </p:par>
                      </p:childTnLst>
                    </p:cTn>
                  </p:par>
                </p:childTnLst>
              </p:cTn>
              <p:nextCondLst>
                <p:cond evt="onClick" delay="0">
                  <p:tgtEl>
                    <p:spTgt spid="7"/>
                  </p:tgtEl>
                </p:cond>
              </p:nextCondLst>
            </p:seq>
            <p:seq concurrent="1" nextAc="seek">
              <p:cTn id="16" restart="whenNotActive" fill="hold" evtFilter="cancelBubble" nodeType="interactiveSeq">
                <p:stCondLst>
                  <p:cond evt="onClick" delay="0">
                    <p:tgtEl>
                      <p:spTgt spid="8"/>
                    </p:tgtEl>
                  </p:cond>
                </p:stCondLst>
                <p:endSync evt="end" delay="0">
                  <p:rtn val="all"/>
                </p:endSync>
                <p:childTnLst>
                  <p:par>
                    <p:cTn id="17" fill="hold">
                      <p:stCondLst>
                        <p:cond delay="0"/>
                      </p:stCondLst>
                      <p:childTnLst>
                        <p:par>
                          <p:cTn id="18" fill="hold">
                            <p:stCondLst>
                              <p:cond delay="0"/>
                            </p:stCondLst>
                            <p:childTnLst>
                              <p:par>
                                <p:cTn id="19" presetID="2" presetClass="exit" presetSubtype="2" fill="hold" grpId="0" nodeType="clickEffect">
                                  <p:stCondLst>
                                    <p:cond delay="0"/>
                                  </p:stCondLst>
                                  <p:childTnLst>
                                    <p:anim calcmode="lin" valueType="num">
                                      <p:cBhvr additive="base">
                                        <p:cTn id="20" dur="800"/>
                                        <p:tgtEl>
                                          <p:spTgt spid="8"/>
                                        </p:tgtEl>
                                        <p:attrNameLst>
                                          <p:attrName>ppt_x</p:attrName>
                                        </p:attrNameLst>
                                      </p:cBhvr>
                                      <p:tavLst>
                                        <p:tav tm="0">
                                          <p:val>
                                            <p:strVal val="ppt_x"/>
                                          </p:val>
                                        </p:tav>
                                        <p:tav tm="100000">
                                          <p:val>
                                            <p:strVal val="1+ppt_w/2"/>
                                          </p:val>
                                        </p:tav>
                                      </p:tavLst>
                                    </p:anim>
                                    <p:anim calcmode="lin" valueType="num">
                                      <p:cBhvr additive="base">
                                        <p:cTn id="21" dur="800"/>
                                        <p:tgtEl>
                                          <p:spTgt spid="8"/>
                                        </p:tgtEl>
                                        <p:attrNameLst>
                                          <p:attrName>ppt_y</p:attrName>
                                        </p:attrNameLst>
                                      </p:cBhvr>
                                      <p:tavLst>
                                        <p:tav tm="0">
                                          <p:val>
                                            <p:strVal val="ppt_y"/>
                                          </p:val>
                                        </p:tav>
                                        <p:tav tm="100000">
                                          <p:val>
                                            <p:strVal val="ppt_y"/>
                                          </p:val>
                                        </p:tav>
                                      </p:tavLst>
                                    </p:anim>
                                    <p:set>
                                      <p:cBhvr>
                                        <p:cTn id="22" dur="1" fill="hold">
                                          <p:stCondLst>
                                            <p:cond delay="799"/>
                                          </p:stCondLst>
                                        </p:cTn>
                                        <p:tgtEl>
                                          <p:spTgt spid="8"/>
                                        </p:tgtEl>
                                        <p:attrNameLst>
                                          <p:attrName>style.visibility</p:attrName>
                                        </p:attrNameLst>
                                      </p:cBhvr>
                                      <p:to>
                                        <p:strVal val="hidden"/>
                                      </p:to>
                                    </p:set>
                                  </p:childTnLst>
                                </p:cTn>
                              </p:par>
                            </p:childTnLst>
                          </p:cTn>
                        </p:par>
                      </p:childTnLst>
                    </p:cTn>
                  </p:par>
                </p:childTnLst>
              </p:cTn>
              <p:nextCondLst>
                <p:cond evt="onClick" delay="0">
                  <p:tgtEl>
                    <p:spTgt spid="8"/>
                  </p:tgtEl>
                </p:cond>
              </p:nextCondLst>
            </p:seq>
          </p:childTnLst>
        </p:cTn>
      </p:par>
    </p:tnLst>
    <p:bldLst>
      <p:bldP spid="6" grpId="0" animBg="1"/>
      <p:bldP spid="7" grpId="0" animBg="1"/>
      <p:bldP spid="8"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778</Words>
  <Application>Microsoft Office PowerPoint</Application>
  <PresentationFormat>Custom</PresentationFormat>
  <Paragraphs>85</Paragraphs>
  <Slides>8</Slides>
  <Notes>8</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vt:i4>
      </vt:variant>
    </vt:vector>
  </HeadingPairs>
  <TitlesOfParts>
    <vt:vector size="14" baseType="lpstr">
      <vt:lpstr>Arial</vt:lpstr>
      <vt:lpstr>Calibri</vt:lpstr>
      <vt:lpstr>Calibri Light</vt:lpstr>
      <vt:lpstr>League Gothic</vt:lpstr>
      <vt:lpstr>Open Sauce One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Keith Byne</dc:creator>
  <cp:lastModifiedBy>Keith Byne</cp:lastModifiedBy>
  <cp:revision>1</cp:revision>
  <dcterms:created xsi:type="dcterms:W3CDTF">2026-09-23T20:35:41Z</dcterms:created>
  <dcterms:modified xsi:type="dcterms:W3CDTF">2026-09-23T20:35:41Z</dcterms:modified>
</cp:coreProperties>
</file>